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9" r:id="rId3"/>
    <p:sldId id="258" r:id="rId5"/>
    <p:sldId id="266" r:id="rId6"/>
    <p:sldId id="262" r:id="rId7"/>
    <p:sldId id="344" r:id="rId8"/>
    <p:sldId id="350" r:id="rId9"/>
    <p:sldId id="349" r:id="rId10"/>
    <p:sldId id="351" r:id="rId11"/>
    <p:sldId id="358" r:id="rId12"/>
    <p:sldId id="360" r:id="rId13"/>
    <p:sldId id="361" r:id="rId14"/>
    <p:sldId id="362" r:id="rId15"/>
    <p:sldId id="308" r:id="rId16"/>
    <p:sldId id="347" r:id="rId17"/>
    <p:sldId id="353" r:id="rId18"/>
    <p:sldId id="346" r:id="rId19"/>
    <p:sldId id="335" r:id="rId20"/>
    <p:sldId id="333" r:id="rId21"/>
    <p:sldId id="354" r:id="rId22"/>
    <p:sldId id="355" r:id="rId23"/>
    <p:sldId id="357" r:id="rId24"/>
    <p:sldId id="363" r:id="rId25"/>
    <p:sldId id="356" r:id="rId26"/>
    <p:sldId id="264" r:id="rId27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AD54"/>
    <a:srgbClr val="1A6A40"/>
    <a:srgbClr val="FFFDF5"/>
    <a:srgbClr val="20824E"/>
    <a:srgbClr val="C5E0B4"/>
    <a:srgbClr val="F3BC15"/>
    <a:srgbClr val="2E461C"/>
    <a:srgbClr val="C1DFAE"/>
    <a:srgbClr val="F5FAF1"/>
    <a:srgbClr val="6DA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4" autoAdjust="0"/>
    <p:restoredTop sz="94660"/>
  </p:normalViewPr>
  <p:slideViewPr>
    <p:cSldViewPr snapToGrid="0">
      <p:cViewPr varScale="1">
        <p:scale>
          <a:sx n="93" d="100"/>
          <a:sy n="93" d="100"/>
        </p:scale>
        <p:origin x="45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91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l="17523" t="18435" r="12988"/>
          <a:stretch>
            <a:fillRect/>
          </a:stretch>
        </p:blipFill>
        <p:spPr>
          <a:xfrm>
            <a:off x="0" y="-1"/>
            <a:ext cx="12192001" cy="6858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image" Target="../media/image3.png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4.xml"/><Relationship Id="rId3" Type="http://schemas.openxmlformats.org/officeDocument/2006/relationships/image" Target="../media/image3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tags" Target="../tags/tag27.xml"/><Relationship Id="rId3" Type="http://schemas.openxmlformats.org/officeDocument/2006/relationships/image" Target="../media/image3.png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tags" Target="../tags/tag30.xml"/><Relationship Id="rId3" Type="http://schemas.openxmlformats.org/officeDocument/2006/relationships/image" Target="../media/image3.png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5.xml"/><Relationship Id="rId3" Type="http://schemas.openxmlformats.org/officeDocument/2006/relationships/image" Target="../media/image3.png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tags" Target="../tags/tag38.xml"/><Relationship Id="rId3" Type="http://schemas.openxmlformats.org/officeDocument/2006/relationships/image" Target="../media/image3.png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1.xml"/><Relationship Id="rId3" Type="http://schemas.openxmlformats.org/officeDocument/2006/relationships/image" Target="../media/image3.png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tags" Target="../tags/tag44.xml"/><Relationship Id="rId3" Type="http://schemas.openxmlformats.org/officeDocument/2006/relationships/image" Target="../media/image3.png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tags" Target="../tags/tag47.xml"/><Relationship Id="rId3" Type="http://schemas.openxmlformats.org/officeDocument/2006/relationships/image" Target="../media/image3.png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image" Target="../media/image3.png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image" Target="../media/image3.png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image" Target="../media/image3.png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3.png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3.png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image" Target="../media/image3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image" Target="../media/image3.png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image" Target="../media/image3.png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image" Target="../media/image3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90.xml"/><Relationship Id="rId3" Type="http://schemas.openxmlformats.org/officeDocument/2006/relationships/image" Target="../media/image3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62"/>
            <a:ext cx="12231334" cy="6857999"/>
          </a:xfrm>
          <a:prstGeom prst="rect">
            <a:avLst/>
          </a:prstGeom>
        </p:spPr>
      </p:pic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4"/>
            </p:custDataLst>
          </p:nvPr>
        </p:nvSpPr>
        <p:spPr>
          <a:xfrm>
            <a:off x="1393190" y="6233795"/>
            <a:ext cx="9404985" cy="386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pc="100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NORTHWEST A&amp;F UNIVERSITY</a:t>
            </a:r>
            <a:endParaRPr lang="en-US" spc="100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174260" y="-96520"/>
            <a:ext cx="758124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0206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0"/>
            <a:ext cx="1221103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35000">
                      <a:srgbClr val="479F72">
                        <a:alpha val="90000"/>
                      </a:srgbClr>
                    </a:gs>
                    <a:gs pos="100000">
                      <a:srgbClr val="35823C">
                        <a:alpha val="0"/>
                      </a:srgbClr>
                    </a:gs>
                    <a:gs pos="0">
                      <a:srgbClr val="479F72"/>
                    </a:gs>
                  </a:gsLst>
                  <a:lin ang="0" scaled="1"/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-310" y="-10018"/>
            <a:ext cx="12211034" cy="6858000"/>
          </a:xfrm>
          <a:prstGeom prst="rect">
            <a:avLst/>
          </a:prstGeom>
          <a:gradFill>
            <a:gsLst>
              <a:gs pos="35000">
                <a:srgbClr val="479F72">
                  <a:alpha val="90000"/>
                </a:srgbClr>
              </a:gs>
              <a:gs pos="100000">
                <a:srgbClr val="35823C">
                  <a:alpha val="0"/>
                </a:srgbClr>
              </a:gs>
              <a:gs pos="0">
                <a:srgbClr val="479F72"/>
              </a:gs>
            </a:gsLst>
            <a:lin ang="0" scaled="1"/>
          </a:gradFill>
          <a:ln>
            <a:noFill/>
          </a:ln>
        </p:spPr>
        <p:style>
          <a:lnRef idx="2">
            <a:srgbClr val="86C131">
              <a:shade val="50000"/>
            </a:srgbClr>
          </a:lnRef>
          <a:fillRef idx="1">
            <a:srgbClr val="86C131"/>
          </a:fillRef>
          <a:effectRef idx="0">
            <a:srgbClr val="86C131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815564" y="3967481"/>
            <a:ext cx="3480435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5000"/>
              </a:lnSpc>
            </a:pPr>
            <a:r>
              <a:rPr lang="zh-CN" altLang="en-US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汇报人：</a:t>
            </a:r>
            <a:endParaRPr lang="en-US" altLang="zh-CN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67279" y="4842511"/>
            <a:ext cx="2857693" cy="437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25000"/>
              </a:lnSpc>
            </a:pPr>
            <a:r>
              <a:rPr lang="zh-CN" altLang="en-US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汇报时间：</a:t>
            </a:r>
            <a:endParaRPr lang="en-US" altLang="zh-CN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1450059" y="1902236"/>
            <a:ext cx="9029645" cy="98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5000"/>
              </a:lnSpc>
            </a:pPr>
            <a:r>
              <a:rPr lang="zh-CN" altLang="en-US" sz="5400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收集样本问题的分析与解决</a:t>
            </a:r>
            <a:endParaRPr lang="zh-CN" altLang="en-US" sz="5400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4567279" y="4404996"/>
            <a:ext cx="385953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5000"/>
              </a:lnSpc>
            </a:pPr>
            <a:r>
              <a:rPr lang="zh-CN" altLang="en-US" spc="200" dirty="0">
                <a:solidFill>
                  <a:schemeClr val="bg1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指导老师：</a:t>
            </a:r>
            <a:endParaRPr lang="zh-CN" altLang="en-US" spc="200" dirty="0">
              <a:solidFill>
                <a:schemeClr val="bg1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2363">
        <p159:morph option="byObject"/>
      </p:transition>
    </mc:Choice>
    <mc:Fallback>
      <p:transition spd="med" advTm="236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gradFill>
            <a:gsLst>
              <a:gs pos="1000">
                <a:schemeClr val="accent6">
                  <a:lumMod val="20000"/>
                  <a:lumOff val="80000"/>
                  <a:alpha val="31000"/>
                </a:schemeClr>
              </a:gs>
              <a:gs pos="27000">
                <a:srgbClr val="7EAC8D">
                  <a:alpha val="66000"/>
                </a:srgbClr>
              </a:gs>
              <a:gs pos="70000">
                <a:srgbClr val="1A6840">
                  <a:alpha val="6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850265" y="2573020"/>
            <a:ext cx="235966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spc="1200">
                <a:solidFill>
                  <a:srgbClr val="2E461C"/>
                </a:solidFill>
                <a:uFillTx/>
                <a:latin typeface="华文中宋" panose="02010600040101010101" charset="-122"/>
                <a:ea typeface="华文中宋" panose="02010600040101010101" charset="-122"/>
              </a:rPr>
              <a:t>目录</a:t>
            </a:r>
            <a:endParaRPr lang="zh-CN" altLang="en-US" sz="6600" b="1" spc="120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2"/>
            </p:custDataLst>
          </p:nvPr>
        </p:nvSpPr>
        <p:spPr>
          <a:xfrm>
            <a:off x="3850005" y="960120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3850005" y="960120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440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5034280" y="2338070"/>
            <a:ext cx="54013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DFS</a:t>
            </a:r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角度解决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圆角矩形 21"/>
          <p:cNvSpPr/>
          <p:nvPr>
            <p:custDataLst>
              <p:tags r:id="rId5"/>
            </p:custDataLst>
          </p:nvPr>
        </p:nvSpPr>
        <p:spPr>
          <a:xfrm>
            <a:off x="3855085" y="3653790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3850005" y="3629025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440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5032375" y="4982557"/>
            <a:ext cx="3998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代码测试与结果展示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6" name="圆角矩形 25"/>
          <p:cNvSpPr/>
          <p:nvPr>
            <p:custDataLst>
              <p:tags r:id="rId8"/>
            </p:custDataLst>
          </p:nvPr>
        </p:nvSpPr>
        <p:spPr>
          <a:xfrm>
            <a:off x="3850005" y="2291080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3850005" y="2252345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440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5032375" y="3700780"/>
            <a:ext cx="41116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DP</a:t>
            </a:r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角度解决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3"/>
            </p:custDataLst>
          </p:nvPr>
        </p:nvSpPr>
        <p:spPr>
          <a:xfrm>
            <a:off x="3855085" y="4957445"/>
            <a:ext cx="64643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4</a:t>
            </a:r>
            <a:endParaRPr lang="en-US" altLang="zh-CN" sz="440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14"/>
            </p:custDataLst>
          </p:nvPr>
        </p:nvSpPr>
        <p:spPr>
          <a:xfrm>
            <a:off x="3855085" y="4957445"/>
            <a:ext cx="646430" cy="699770"/>
          </a:xfrm>
          <a:prstGeom prst="roundRect">
            <a:avLst/>
          </a:prstGeom>
          <a:noFill/>
          <a:ln>
            <a:solidFill>
              <a:srgbClr val="2E461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5"/>
            </p:custDataLst>
          </p:nvPr>
        </p:nvSpPr>
        <p:spPr>
          <a:xfrm>
            <a:off x="4994912" y="985837"/>
            <a:ext cx="54013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问题初步分析</a:t>
            </a:r>
            <a:endParaRPr lang="zh-CN" altLang="en-US" sz="32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19">
        <p159:morph option="byObject"/>
      </p:transition>
    </mc:Choice>
    <mc:Fallback>
      <p:transition spd="med" advTm="419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77690" y="2518410"/>
            <a:ext cx="4565650" cy="2074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dist" fontAlgn="auto">
              <a:lnSpc>
                <a:spcPct val="125000"/>
              </a:lnSpc>
            </a:pPr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问题初步分析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indent="0" algn="dist" fontAlgn="auto">
              <a:lnSpc>
                <a:spcPct val="125000"/>
              </a:lnSpc>
            </a:pP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1</a:t>
            </a:r>
            <a:endParaRPr lang="en-US" altLang="zh-CN" sz="8000" b="1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578">
        <p159:morph option="byObject"/>
      </p:transition>
    </mc:Choice>
    <mc:Fallback>
      <p:transition spd="med" advTm="1578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问题初步分析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133673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1750060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问题简介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7045" y="2087725"/>
            <a:ext cx="10866755" cy="39452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机器人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Rob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在一个有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n*n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个方格的方形区域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中收集样本，（</a:t>
            </a:r>
            <a:r>
              <a:rPr lang="en-US" altLang="zh-CN" sz="24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j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）方格中样本的价值为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400" dirty="0" err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j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）。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Rob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从方形区域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左上角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点出发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向下或向右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行走，直到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右下角的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点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，在走过的路上，收集方格中的样本。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Rob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点到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点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共走</a:t>
            </a:r>
            <a:r>
              <a:rPr lang="en-US" altLang="zh-CN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次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，试找出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Rob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条行走路径，使其取得的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样本总价值最大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。并要求给出区域内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样本数据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和给出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图形化收集样本路径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5214">
        <p159:morph option="byObject"/>
      </p:transition>
    </mc:Choice>
    <mc:Fallback>
      <p:transition spd="med" advTm="5214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问题初步分析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1481116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3703955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初步分析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7045" y="1593216"/>
            <a:ext cx="10866755" cy="39452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给定一个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n*n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的网格图，在每个网格中存在一个数字，要求从方格图的左上角出发，向下或向右移动，直到到达右下角，如此进行两次，形成两条路径，使两条路径经过的方格的数字总和最大。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	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从题面而言，与最大路径和类似，是否能用相同思路解决？</a:t>
            </a:r>
            <a:endParaRPr lang="en-US" altLang="zh-CN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048806" y="3536875"/>
          <a:ext cx="2949021" cy="2745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669"/>
                <a:gridCol w="327669"/>
                <a:gridCol w="327669"/>
                <a:gridCol w="327669"/>
                <a:gridCol w="327669"/>
                <a:gridCol w="327669"/>
                <a:gridCol w="327669"/>
                <a:gridCol w="327669"/>
                <a:gridCol w="327669"/>
              </a:tblGrid>
              <a:tr h="3050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8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050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050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050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050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050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050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050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050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rcRect l="4402" r="6866"/>
          <a:stretch>
            <a:fillRect/>
          </a:stretch>
        </p:blipFill>
        <p:spPr>
          <a:xfrm rot="2678220">
            <a:off x="6826414" y="3786575"/>
            <a:ext cx="2250414" cy="224610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265714" y="6499344"/>
            <a:ext cx="4991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将网格旋转</a:t>
            </a:r>
            <a:r>
              <a:rPr lang="en-US" altLang="zh-CN" dirty="0"/>
              <a:t>45°</a:t>
            </a:r>
            <a:r>
              <a:rPr lang="zh-CN" altLang="en-US" dirty="0"/>
              <a:t>后，形式变为与最大路径和相同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22201">
        <p159:morph option="byObject"/>
      </p:transition>
    </mc:Choice>
    <mc:Fallback>
      <p:transition spd="med" advTm="2220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1.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问题初步分析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690" y="1517015"/>
            <a:ext cx="1508548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87045" y="925830"/>
            <a:ext cx="1750060" cy="514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初步分析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31182" y="5513901"/>
            <a:ext cx="3203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独立使用两次动态规划结果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747467" y="5513901"/>
            <a:ext cx="3203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实际上最佳路径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1182" y="2104831"/>
            <a:ext cx="3356284" cy="330151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467" y="2104830"/>
            <a:ext cx="3356284" cy="3301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8756">
        <p159:morph option="byObject"/>
      </p:transition>
    </mc:Choice>
    <mc:Fallback>
      <p:transition spd="med" advTm="18756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77690" y="2518410"/>
            <a:ext cx="6271260" cy="2074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DFS</a:t>
            </a:r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角度解决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2</a:t>
            </a:r>
            <a:endParaRPr lang="en-US" altLang="zh-CN" sz="8000" b="1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2514">
        <p159:morph option="byObject"/>
      </p:transition>
    </mc:Choice>
    <mc:Fallback>
      <p:transition spd="med" advTm="2514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 DFS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角度解决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175652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20" y="962025"/>
            <a:ext cx="1975108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基础回溯法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867767" y="2776256"/>
          <a:ext cx="3543300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700"/>
                <a:gridCol w="393700"/>
                <a:gridCol w="393700"/>
                <a:gridCol w="393700"/>
                <a:gridCol w="393700"/>
                <a:gridCol w="393700"/>
                <a:gridCol w="393700"/>
                <a:gridCol w="393700"/>
                <a:gridCol w="393700"/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8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34141" y="1849340"/>
            <a:ext cx="1109726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简单的暴力搜索，从起点搜索到终点，再从终点搜索到起点，形成两条路径，在搜索的过程中统计经过方格数字总和，在一次完整搜索结束后更新结果时。</a:t>
            </a:r>
            <a:endParaRPr lang="zh-CN" altLang="en-US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87351" y="6314678"/>
            <a:ext cx="3203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假设为某一次完整搜索的结果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4222">
        <p159:morph option="byObject"/>
      </p:transition>
    </mc:Choice>
    <mc:Fallback>
      <p:transition spd="med" advTm="14222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 DFS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角度解决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1756527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20" y="962025"/>
            <a:ext cx="1975108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基础回溯法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4141" y="1849340"/>
            <a:ext cx="11097260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对时间复杂度进行分析，可将问题看作一个长度为 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2*(n-1) 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的操作队列，其中 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n-1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个位置进行向下移动的操作，其余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n-1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个位置进行向右移动的操作，而未优化的</a:t>
            </a: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DFS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就是列出所有可能的队列，并找出最优解选法。在使用组合知识后发现，时间复杂度是指数级，不能满足要求，必须对时间复杂度进行优化。</a:t>
            </a:r>
            <a:endParaRPr lang="zh-CN" altLang="en-US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rcRect l="23295" r="26201"/>
          <a:stretch>
            <a:fillRect/>
          </a:stretch>
        </p:blipFill>
        <p:spPr>
          <a:xfrm>
            <a:off x="1739773" y="3993201"/>
            <a:ext cx="7698993" cy="134753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494081" y="5617029"/>
            <a:ext cx="3203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时间复杂度的计算公式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9177">
        <p159:morph option="byObject"/>
      </p:transition>
    </mc:Choice>
    <mc:Fallback>
      <p:transition spd="med" advTm="9177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 DFS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角度解决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2148413" cy="9277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19" y="962025"/>
            <a:ext cx="2353243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DFS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的优化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706935" y="2943599"/>
          <a:ext cx="3543300" cy="34297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700"/>
                <a:gridCol w="393700"/>
                <a:gridCol w="393700"/>
                <a:gridCol w="393700"/>
                <a:gridCol w="393700"/>
                <a:gridCol w="393700"/>
                <a:gridCol w="393700"/>
                <a:gridCol w="393700"/>
                <a:gridCol w="393700"/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8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7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56AD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031144" y="2914639"/>
          <a:ext cx="3543300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700"/>
                <a:gridCol w="393700"/>
                <a:gridCol w="393700"/>
                <a:gridCol w="393700"/>
                <a:gridCol w="393700"/>
                <a:gridCol w="393700"/>
                <a:gridCol w="393700"/>
                <a:gridCol w="393700"/>
                <a:gridCol w="393700"/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34141" y="1743270"/>
            <a:ext cx="1109726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		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通过手动模拟可以发现，在搜索过程中，存在大量重复的计算，可通过记忆化搜索，记录每个位置的对于之后搜索的所有结果中的最优值。若未进行过搜索，则进行对搜索并记录最优值，若已进行过搜索，则直接取记录中的最优值即可。</a:t>
            </a:r>
            <a:endParaRPr lang="zh-CN" altLang="en-US" sz="24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94081" y="6398689"/>
            <a:ext cx="3203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记忆化搜索的举例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30711" y="3914402"/>
            <a:ext cx="16706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每次搜索到绿色方格后，仍然需要搜索三次方格后才能计算出结果并返回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0574444" y="3839448"/>
            <a:ext cx="16706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第一次搜索完成绿色方格后，之后再次搜索到绿色风格时，只需取最优结果返回即可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25540">
        <p159:morph option="byObject"/>
      </p:transition>
    </mc:Choice>
    <mc:Fallback>
      <p:transition spd="med" advTm="2554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 DFS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角度解决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2148413" cy="9277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19" y="962025"/>
            <a:ext cx="2353243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对</a:t>
            </a:r>
            <a:r>
              <a:rPr lang="en-US" altLang="zh-CN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DFS</a:t>
            </a: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的优化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34141" y="1684336"/>
                <a:ext cx="11097260" cy="52629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indent="0" algn="just" defTabSz="26670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dirty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  <a:sym typeface="+mn-ea"/>
                  </a:rPr>
                  <a:t>		</a:t>
                </a:r>
                <a:r>
                  <a:rPr lang="zh-CN" altLang="en-US" sz="2400" dirty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  <a:sym typeface="+mn-ea"/>
                  </a:rPr>
                  <a:t>而对于两条路径的搜索方式，考虑将其优化为同时进行搜索。方式为对作为搜索对象的状态进行规定，一个状态由两条路径通过相同移动次数，能够到达位置的横纵坐标，共四个参数表示，形式为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charset="-122"/>
                        <a:sym typeface="+mn-ea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charset="-122"/>
                        <a:sym typeface="+mn-ea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charset="-122"/>
                        <a:sym typeface="+mn-ea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rPr>
                      <m:t>&gt;</m:t>
                    </m:r>
                  </m:oMath>
                </a14:m>
                <a:r>
                  <a:rPr lang="zh-CN" altLang="en-US" sz="2400" dirty="0"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  <a:sym typeface="+mn-ea"/>
                  </a:rPr>
                  <a:t>。对于一个确定的状态，对下一步方案的选择总共存在以下四种情况：</a:t>
                </a:r>
                <a:endParaRPr lang="en-US" altLang="zh-CN" sz="2400" dirty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endParaRPr>
              </a:p>
              <a:p>
                <a:pPr lvl="1" algn="just" defTabSz="26670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  <a:sym typeface="+mn-ea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  <a:sym typeface="+mn-ea"/>
                  </a:rPr>
                  <a:t>、两条路径都向下走</a:t>
                </a:r>
                <a:endParaRPr lang="zh-CN" altLang="en-US" sz="2400" dirty="0">
                  <a:solidFill>
                    <a:srgbClr val="000000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endParaRPr>
              </a:p>
              <a:p>
                <a:pPr lvl="1" algn="just" defTabSz="26670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  <a:sym typeface="+mn-ea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  <a:sym typeface="+mn-ea"/>
                  </a:rPr>
                  <a:t>、两条路径都向右走</a:t>
                </a:r>
                <a:endParaRPr lang="zh-CN" altLang="en-US" sz="2400" dirty="0">
                  <a:solidFill>
                    <a:srgbClr val="000000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endParaRPr>
              </a:p>
              <a:p>
                <a:pPr lvl="1" algn="just" defTabSz="26670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  <a:sym typeface="+mn-ea"/>
                  </a:rPr>
                  <a:t>3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  <a:sym typeface="+mn-ea"/>
                  </a:rPr>
                  <a:t>、第一条路径向下走，第二条路径向右走</a:t>
                </a:r>
                <a:endParaRPr lang="zh-CN" altLang="en-US" sz="2400" dirty="0">
                  <a:solidFill>
                    <a:srgbClr val="000000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endParaRPr>
              </a:p>
              <a:p>
                <a:pPr lvl="1" algn="just" defTabSz="26670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  <a:sym typeface="+mn-ea"/>
                  </a:rPr>
                  <a:t>4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  <a:sym typeface="+mn-ea"/>
                  </a:rPr>
                  <a:t>、第一条路径向右走，第二条路径向下走</a:t>
                </a:r>
                <a:endParaRPr lang="zh-CN" altLang="en-US" sz="2400" dirty="0">
                  <a:solidFill>
                    <a:srgbClr val="000000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endParaRPr>
              </a:p>
              <a:p>
                <a:pPr marL="0" indent="0" algn="just" defTabSz="26670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  <a:sym typeface="+mn-ea"/>
                  </a:rPr>
                  <a:t>		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  <a:sym typeface="+mn-ea"/>
                  </a:rPr>
                  <a:t>所以，如果对每个状态都枚举这四种情况，并对对应状态进行下一步的搜索，就一定能根据返回的值，找到对于当前状态的走法的最佳方案；同时，通过记忆化搜索，使用四维数组来记录已经被搜索过的状态的最优结果，当重复搜索同一种状态时，就可以进行剪枝，直接返回，减少对重复部分的计算，能够明显降低时间复杂度。</a:t>
                </a:r>
                <a:endParaRPr lang="zh-CN" altLang="en-US" sz="2400" dirty="0">
                  <a:solidFill>
                    <a:srgbClr val="000000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endParaRPr>
              </a:p>
              <a:p>
                <a:pPr marL="0" indent="0" algn="just" defTabSz="26670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 dirty="0">
                  <a:solidFill>
                    <a:srgbClr val="000000"/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  <a:sym typeface="+mn-ea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41" y="1684336"/>
                <a:ext cx="11097260" cy="5262979"/>
              </a:xfrm>
              <a:prstGeom prst="rect">
                <a:avLst/>
              </a:prstGeom>
              <a:blipFill rotWithShape="1">
                <a:blip r:embed="rId5"/>
                <a:stretch>
                  <a:fillRect l="-4" t="-6" r="4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427">
        <p159:morph option="byObject"/>
      </p:transition>
    </mc:Choice>
    <mc:Fallback>
      <p:transition spd="med" advTm="45427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24485" y="173990"/>
            <a:ext cx="526478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2. DFS</a:t>
            </a:r>
            <a:r>
              <a:rPr lang="zh-CN" altLang="en-US" sz="3800" spc="100" dirty="0">
                <a:solidFill>
                  <a:schemeClr val="bg1"/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角度解决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66047" y="1517263"/>
            <a:ext cx="1797779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71219" y="962025"/>
            <a:ext cx="2353243" cy="5645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核心伪代码</a:t>
            </a:r>
            <a:endParaRPr lang="zh-CN" altLang="en-US" sz="2800" dirty="0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824" y="1588168"/>
            <a:ext cx="5008126" cy="459951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218" y="1588168"/>
            <a:ext cx="4305052" cy="4905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0428">
        <p159:morph option="byObject"/>
      </p:transition>
    </mc:Choice>
    <mc:Fallback>
      <p:transition spd="med" advTm="10428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7365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77691" y="2518410"/>
            <a:ext cx="4315736" cy="103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DP</a:t>
            </a:r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角度解决</a:t>
            </a:r>
            <a:endParaRPr lang="zh-CN" altLang="en-US" sz="5400" spc="200" dirty="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3</a:t>
            </a:r>
            <a:endParaRPr lang="en-US" altLang="zh-CN" sz="8000" b="1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553">
        <p159:morph option="byObject"/>
      </p:transition>
    </mc:Choice>
    <mc:Fallback>
      <p:transition spd="med" advTm="1553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440056" y="1075055"/>
            <a:ext cx="1636252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状态压缩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87045" y="1822450"/>
            <a:ext cx="1104582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87045" y="173990"/>
            <a:ext cx="5220970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 </a:t>
            </a:r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DP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角度解决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1354932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40056" y="1609908"/>
                <a:ext cx="11419643" cy="21446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	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对于每个状态最优结果的存储需要四维数组，对内存空间的要求较高，应进行优化。</a:t>
                </a:r>
                <a:endParaRPr kumimoji="1" lang="en-US" altLang="zh-CN" sz="2200" dirty="0">
                  <a:solidFill>
                    <a:schemeClr val="tx2">
                      <a:lumMod val="50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       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通过观察可以发现，每移动一次，需要在位置的</a:t>
                </a:r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x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和</a:t>
                </a:r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y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之间选择一个加</a:t>
                </a:r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1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。由于在同一个状态内，两条路径移动过同样的次数，所以两条路径位置横纵坐标的和必然相等的。所以，我们可以将状态的记录方式变为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rPr>
                      <m:t>&lt;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华文中宋" panose="02010600040101010101" charset="-122"/>
                        <a:sym typeface="+mn-ea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华文中宋" panose="02010600040101010101" charset="-122"/>
                        <a:sym typeface="+mn-ea"/>
                      </a:rPr>
                      <m:t>,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华文中宋" panose="02010600040101010101" charset="-122"/>
                        <a:cs typeface="华文中宋" panose="02010600040101010101" charset="-122"/>
                        <a:sym typeface="+mn-ea"/>
                      </a:rPr>
                      <m:t>&gt;</m:t>
                    </m:r>
                  </m:oMath>
                </a14:m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。在程序运行过程中，就可以通过计算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中宋" panose="02010600040101010101" charset="-122"/>
                        <a:sym typeface="+mn-ea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华文中宋" panose="02010600040101010101" charset="-122"/>
                        <a:sym typeface="+mn-ea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  <a:ea typeface="华文中宋" panose="02010600040101010101" charset="-122"/>
                        <a:sym typeface="+mn-ea"/>
                      </a:rPr>
                      <m:t>来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华文中宋" panose="02010600040101010101" charset="-122"/>
                        <a:sym typeface="+mn-ea"/>
                      </a:rPr>
                      <m:t>得到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华文中宋" panose="02010600040101010101" charset="-122"/>
                        <a:sym typeface="+mn-ea"/>
                      </a:rPr>
                      <m:t>隐藏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华文中宋" panose="02010600040101010101" charset="-122"/>
                        <a:sym typeface="+mn-ea"/>
                      </a:rPr>
                      <m:t>的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charset="-122"/>
                            <a:sym typeface="+mn-ea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，从而使用三维数组就可以满足存储的需要。</a:t>
                </a:r>
                <a:endParaRPr kumimoji="1" lang="zh-CN" altLang="en-US" sz="2200" dirty="0">
                  <a:solidFill>
                    <a:schemeClr val="tx2">
                      <a:lumMod val="50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sym typeface="+mn-ea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56" y="1609908"/>
                <a:ext cx="11419643" cy="2144690"/>
              </a:xfrm>
              <a:prstGeom prst="rect">
                <a:avLst/>
              </a:prstGeom>
              <a:blipFill rotWithShape="1">
                <a:blip r:embed="rId6"/>
                <a:stretch>
                  <a:fillRect t="-9" r="4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98351" y="3806060"/>
          <a:ext cx="3070431" cy="2915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1159"/>
                <a:gridCol w="341159"/>
                <a:gridCol w="341159"/>
                <a:gridCol w="341159"/>
                <a:gridCol w="341159"/>
                <a:gridCol w="341159"/>
                <a:gridCol w="341159"/>
                <a:gridCol w="341159"/>
                <a:gridCol w="341159"/>
              </a:tblGrid>
              <a:tr h="3239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8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3239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8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56AD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3239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3239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3239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1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56AD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3239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</a:tr>
              <a:tr h="3239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</a:tr>
              <a:tr h="3239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</a:tr>
              <a:tr h="3239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</a:rPr>
                        <a:t>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5406762" y="4256186"/>
            <a:ext cx="4575438" cy="523220"/>
            <a:chOff x="5406762" y="4166240"/>
            <a:chExt cx="4575438" cy="523220"/>
          </a:xfrm>
        </p:grpSpPr>
        <p:sp>
          <p:nvSpPr>
            <p:cNvPr id="11" name="文本框 10"/>
            <p:cNvSpPr txBox="1"/>
            <p:nvPr/>
          </p:nvSpPr>
          <p:spPr>
            <a:xfrm>
              <a:off x="5406762" y="4166240"/>
              <a:ext cx="1825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56AD54"/>
                  </a:solidFill>
                </a:rPr>
                <a:t>&lt;2, 4, 1, 5&gt; </a:t>
              </a:r>
              <a:endParaRPr lang="zh-CN" altLang="en-US" sz="2800" dirty="0">
                <a:solidFill>
                  <a:srgbClr val="56AD54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156264" y="4166240"/>
              <a:ext cx="1825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56AD54"/>
                  </a:solidFill>
                </a:rPr>
                <a:t>&lt;2, 4, 1&gt; </a:t>
              </a:r>
              <a:endParaRPr lang="zh-CN" altLang="en-US" sz="2800" dirty="0">
                <a:solidFill>
                  <a:srgbClr val="56AD54"/>
                </a:solidFill>
              </a:endParaRPr>
            </a:p>
          </p:txBody>
        </p:sp>
        <p:cxnSp>
          <p:nvCxnSpPr>
            <p:cNvPr id="18" name="直接箭头连接符 17"/>
            <p:cNvCxnSpPr>
              <a:stCxn id="11" idx="3"/>
              <a:endCxn id="16" idx="1"/>
            </p:cNvCxnSpPr>
            <p:nvPr/>
          </p:nvCxnSpPr>
          <p:spPr>
            <a:xfrm>
              <a:off x="7232698" y="4427850"/>
              <a:ext cx="9235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5434263" y="5571521"/>
            <a:ext cx="4575438" cy="523220"/>
            <a:chOff x="5406762" y="4166240"/>
            <a:chExt cx="4575438" cy="523220"/>
          </a:xfrm>
        </p:grpSpPr>
        <p:sp>
          <p:nvSpPr>
            <p:cNvPr id="24" name="文本框 23"/>
            <p:cNvSpPr txBox="1"/>
            <p:nvPr/>
          </p:nvSpPr>
          <p:spPr>
            <a:xfrm>
              <a:off x="5406762" y="4166240"/>
              <a:ext cx="1825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7030A0"/>
                  </a:solidFill>
                </a:rPr>
                <a:t>&lt;3, 6, 6, 3&gt; </a:t>
              </a:r>
              <a:endParaRPr lang="zh-CN" altLang="en-US" sz="2800" dirty="0">
                <a:solidFill>
                  <a:srgbClr val="7030A0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156264" y="4166240"/>
              <a:ext cx="1825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7030A0"/>
                  </a:solidFill>
                </a:rPr>
                <a:t>&lt;3, 6, 6&gt; </a:t>
              </a:r>
              <a:endParaRPr lang="zh-CN" altLang="en-US" sz="2800" dirty="0">
                <a:solidFill>
                  <a:srgbClr val="7030A0"/>
                </a:solidFill>
              </a:endParaRPr>
            </a:p>
          </p:txBody>
        </p:sp>
        <p:cxnSp>
          <p:nvCxnSpPr>
            <p:cNvPr id="26" name="直接箭头连接符 25"/>
            <p:cNvCxnSpPr>
              <a:stCxn id="24" idx="3"/>
              <a:endCxn id="25" idx="1"/>
            </p:cNvCxnSpPr>
            <p:nvPr/>
          </p:nvCxnSpPr>
          <p:spPr>
            <a:xfrm>
              <a:off x="7232698" y="4427850"/>
              <a:ext cx="923566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45844">
        <p159:morph option="byObject"/>
      </p:transition>
    </mc:Choice>
    <mc:Fallback>
      <p:transition spd="med" advTm="45844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487045" y="180975"/>
            <a:ext cx="5200650" cy="6686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 DP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角度解决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804610" y="1085614"/>
            <a:ext cx="481012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思路转换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895985" y="1607584"/>
            <a:ext cx="1448454" cy="10396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7" name="组合 36"/>
          <p:cNvGrpSpPr/>
          <p:nvPr/>
        </p:nvGrpSpPr>
        <p:grpSpPr>
          <a:xfrm>
            <a:off x="1386455" y="2210593"/>
            <a:ext cx="3073705" cy="2887627"/>
            <a:chOff x="1946090" y="2189968"/>
            <a:chExt cx="3073705" cy="2887627"/>
          </a:xfrm>
        </p:grpSpPr>
        <p:grpSp>
          <p:nvGrpSpPr>
            <p:cNvPr id="23" name="组合 22"/>
            <p:cNvGrpSpPr/>
            <p:nvPr/>
          </p:nvGrpSpPr>
          <p:grpSpPr>
            <a:xfrm>
              <a:off x="1946090" y="2189968"/>
              <a:ext cx="3073705" cy="2887627"/>
              <a:chOff x="1946090" y="2189968"/>
              <a:chExt cx="3073705" cy="2887627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946090" y="2189968"/>
                <a:ext cx="900000" cy="900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4119795" y="2189968"/>
                <a:ext cx="900000" cy="900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1946090" y="4177595"/>
                <a:ext cx="900000" cy="900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2" name="直接箭头连接符 31"/>
            <p:cNvCxnSpPr>
              <a:stCxn id="7" idx="3"/>
              <a:endCxn id="8" idx="1"/>
            </p:cNvCxnSpPr>
            <p:nvPr/>
          </p:nvCxnSpPr>
          <p:spPr>
            <a:xfrm>
              <a:off x="2846090" y="2639968"/>
              <a:ext cx="12737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stCxn id="7" idx="2"/>
              <a:endCxn id="22" idx="0"/>
            </p:cNvCxnSpPr>
            <p:nvPr/>
          </p:nvCxnSpPr>
          <p:spPr>
            <a:xfrm>
              <a:off x="2396090" y="3089968"/>
              <a:ext cx="0" cy="108762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文本框 34"/>
            <p:cNvSpPr txBox="1"/>
            <p:nvPr/>
          </p:nvSpPr>
          <p:spPr>
            <a:xfrm>
              <a:off x="3209672" y="2270636"/>
              <a:ext cx="3987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右</a:t>
              </a:r>
              <a:endParaRPr lang="zh-CN" altLang="en-US" dirty="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2447329" y="3477290"/>
              <a:ext cx="3987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下</a:t>
              </a:r>
              <a:endParaRPr lang="zh-CN" altLang="en-US" dirty="0"/>
            </a:p>
          </p:txBody>
        </p:sp>
      </p:grpSp>
      <p:sp>
        <p:nvSpPr>
          <p:cNvPr id="38" name="箭头: 右 37"/>
          <p:cNvSpPr/>
          <p:nvPr/>
        </p:nvSpPr>
        <p:spPr>
          <a:xfrm>
            <a:off x="4844716" y="3397214"/>
            <a:ext cx="2131308" cy="467513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9768000" y="4278888"/>
            <a:ext cx="900000" cy="900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9768000" y="2291261"/>
            <a:ext cx="900000" cy="9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7607147" y="4278888"/>
            <a:ext cx="900000" cy="9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/>
          <p:cNvCxnSpPr>
            <a:stCxn id="50" idx="0"/>
            <a:endCxn id="51" idx="2"/>
          </p:cNvCxnSpPr>
          <p:nvPr/>
        </p:nvCxnSpPr>
        <p:spPr>
          <a:xfrm flipV="1">
            <a:off x="10218000" y="3191261"/>
            <a:ext cx="0" cy="10876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50" idx="1"/>
            <a:endCxn id="53" idx="3"/>
          </p:cNvCxnSpPr>
          <p:nvPr/>
        </p:nvCxnSpPr>
        <p:spPr>
          <a:xfrm flipH="1">
            <a:off x="8507147" y="4728888"/>
            <a:ext cx="126085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8924443" y="4278888"/>
            <a:ext cx="39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左</a:t>
            </a:r>
            <a:endParaRPr lang="zh-CN" altLang="en-US" dirty="0"/>
          </a:p>
        </p:txBody>
      </p:sp>
      <p:sp>
        <p:nvSpPr>
          <p:cNvPr id="49" name="文本框 48"/>
          <p:cNvSpPr txBox="1"/>
          <p:nvPr/>
        </p:nvSpPr>
        <p:spPr>
          <a:xfrm>
            <a:off x="10218000" y="3482074"/>
            <a:ext cx="39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上</a:t>
            </a:r>
            <a:endParaRPr lang="zh-CN" altLang="en-US" dirty="0"/>
          </a:p>
        </p:txBody>
      </p:sp>
      <p:sp>
        <p:nvSpPr>
          <p:cNvPr id="1198478534" name="文本框 1198478533"/>
          <p:cNvSpPr txBox="1"/>
          <p:nvPr/>
        </p:nvSpPr>
        <p:spPr>
          <a:xfrm>
            <a:off x="1321388" y="5623904"/>
            <a:ext cx="3203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往哪个方向走可以取到最大值</a:t>
            </a:r>
            <a:endParaRPr lang="en-US" altLang="zh-CN" dirty="0"/>
          </a:p>
          <a:p>
            <a:pPr algn="ctr"/>
            <a:r>
              <a:rPr lang="zh-CN" altLang="en-US" dirty="0"/>
              <a:t>递归</a:t>
            </a:r>
            <a:endParaRPr lang="zh-CN" altLang="en-US" dirty="0"/>
          </a:p>
        </p:txBody>
      </p:sp>
      <p:sp>
        <p:nvSpPr>
          <p:cNvPr id="1198478536" name="文本框 1198478535"/>
          <p:cNvSpPr txBox="1"/>
          <p:nvPr/>
        </p:nvSpPr>
        <p:spPr>
          <a:xfrm>
            <a:off x="7607147" y="5606370"/>
            <a:ext cx="3203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从哪个方向来可以取到最大值</a:t>
            </a:r>
            <a:endParaRPr lang="en-US" altLang="zh-CN" dirty="0"/>
          </a:p>
          <a:p>
            <a:pPr algn="ctr"/>
            <a:r>
              <a:rPr lang="zh-CN" altLang="en-US" dirty="0"/>
              <a:t>递推</a:t>
            </a:r>
            <a:endParaRPr lang="zh-CN" altLang="en-US" dirty="0"/>
          </a:p>
        </p:txBody>
      </p:sp>
      <p:sp>
        <p:nvSpPr>
          <p:cNvPr id="1198478539" name="矩形 1198478538"/>
          <p:cNvSpPr/>
          <p:nvPr/>
        </p:nvSpPr>
        <p:spPr>
          <a:xfrm>
            <a:off x="1013258" y="1859821"/>
            <a:ext cx="3600000" cy="36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8478540" name="矩形 1198478539"/>
          <p:cNvSpPr/>
          <p:nvPr/>
        </p:nvSpPr>
        <p:spPr>
          <a:xfrm>
            <a:off x="7323823" y="1830970"/>
            <a:ext cx="3600000" cy="360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8156">
        <p159:morph option="byObject"/>
      </p:transition>
    </mc:Choice>
    <mc:Fallback>
      <p:transition spd="med" advTm="18156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</a:t>
            </a:r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 DP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角度解决</a:t>
            </a:r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3603119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最优子结构与转移方程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831898" y="5506491"/>
                <a:ext cx="6668932" cy="9766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𝑎𝑟𝑟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d>
                                <m:dPr>
                                  <m:sepChr m:val=",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𝑑𝑝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𝑑𝑝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                                    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𝑎𝑟𝑟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𝑎𝑟𝑟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d>
                                <m:dPr>
                                  <m:sepChr m:val=",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𝑑𝑝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𝑑𝑝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𝑑𝑝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𝑑𝑝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98" y="5506491"/>
                <a:ext cx="6668932" cy="976614"/>
              </a:xfrm>
              <a:prstGeom prst="rect">
                <a:avLst/>
              </a:prstGeom>
              <a:blipFill rotWithShape="1">
                <a:blip r:embed="rId6"/>
                <a:stretch>
                  <a:fillRect l="-1" t="-42" r="-56128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136410" y="1690062"/>
            <a:ext cx="1156406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buNone/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对于一个确定的状态，其对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上一步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的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状态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总共存在四种情况：</a:t>
            </a:r>
            <a:endParaRPr kumimoji="1" lang="zh-CN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marL="266700" algn="just">
              <a:buNone/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1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、两种都是从上来</a:t>
            </a:r>
            <a:endParaRPr kumimoji="1" lang="zh-CN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marL="266700" algn="just">
              <a:buNone/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2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、两种都是从左来</a:t>
            </a:r>
            <a:endParaRPr kumimoji="1" lang="zh-CN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marL="266700" algn="just">
              <a:buNone/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3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、第一种从上来，第二种从左来</a:t>
            </a:r>
            <a:endParaRPr kumimoji="1" lang="zh-CN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marL="266700" algn="just">
              <a:buNone/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4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、第一种从左来，第二种从上来</a:t>
            </a:r>
            <a:endParaRPr kumimoji="1" lang="zh-CN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indent="266700" algn="just">
              <a:buNone/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而这四种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情况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中的最大值，就是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对于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当前状态的最优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解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，进而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在初始状态确定后，可以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使用递推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，逐步通过局部的最优解，最终计算出整体的最优解。同时，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还存在着特殊情况，当一个状态内，两条路径对应位置重叠时，为了减少两条路径的重叠，增加取到的数字的大小，在这种状态下，只取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3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、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4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两种可能的情况。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从而我们可以依次得到最终的转移方程。</a:t>
            </a:r>
            <a:endParaRPr kumimoji="1" lang="en-US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indent="266700" algn="just">
              <a:buNone/>
            </a:pP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而为了重建最优路径路径，不能在代码中直接使用转移方程，需要变化转移方程的形式，以记录每个状态下最佳选择的方向。</a:t>
            </a:r>
            <a:endParaRPr kumimoji="1" lang="zh-CN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65071" y="6483105"/>
            <a:ext cx="1168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转移方程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7891">
        <p159:morph option="byObject"/>
      </p:transition>
    </mc:Choice>
    <mc:Fallback>
      <p:transition spd="med" advTm="17891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26050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3. </a:t>
            </a:r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DP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角度解决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456564" y="1075055"/>
            <a:ext cx="210100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核心伪代码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3245" y="1597025"/>
            <a:ext cx="1767444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6967" y="1716149"/>
            <a:ext cx="4203453" cy="380123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582" y="1716149"/>
            <a:ext cx="3450908" cy="49966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2911">
        <p159:morph option="byObject"/>
      </p:transition>
    </mc:Choice>
    <mc:Fallback>
      <p:transition spd="med" advTm="2911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1000">
                <a:srgbClr val="C1DFAE">
                  <a:alpha val="76000"/>
                </a:srgbClr>
              </a:gs>
              <a:gs pos="27000">
                <a:srgbClr val="7EAC8D">
                  <a:alpha val="82000"/>
                </a:srgbClr>
              </a:gs>
              <a:gs pos="76000">
                <a:srgbClr val="1A6840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08938" y="2717780"/>
            <a:ext cx="6442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测试与总结</a:t>
            </a:r>
            <a:endParaRPr lang="zh-CN" altLang="en-US" sz="54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2021840" y="2267585"/>
            <a:ext cx="1786890" cy="1823720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6">
                    <a:lumMod val="5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895" y="2518410"/>
            <a:ext cx="13843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</a:rPr>
              <a:t>4</a:t>
            </a:r>
            <a:endParaRPr lang="en-US" altLang="zh-CN" sz="8000" b="1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543">
        <p159:morph option="byObject"/>
      </p:transition>
    </mc:Choice>
    <mc:Fallback>
      <p:transition spd="med" advTm="543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4.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测试与总结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1464935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测试代码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7104" y="2018285"/>
            <a:ext cx="1069779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通过使用头文件等方式，在保证各个算法独立性的同时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，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将它们统一到了一个工程项目下，并编写了测试代码，包含了选择界面，问题规模输入，随机数据生成，运行时间统计，最佳路径显示等功能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。</a:t>
            </a:r>
            <a:endParaRPr kumimoji="1" lang="zh-CN" altLang="zh-CN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6913" y="3380981"/>
            <a:ext cx="6504754" cy="24638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147371" y="6099555"/>
            <a:ext cx="3203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基础选择界面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610">
        <p159:morph option="byObject"/>
      </p:transition>
    </mc:Choice>
    <mc:Fallback>
      <p:transition spd="med" advTm="61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4.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测试与总结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1464935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结果展示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rcRect r="24437"/>
          <a:stretch>
            <a:fillRect/>
          </a:stretch>
        </p:blipFill>
        <p:spPr>
          <a:xfrm>
            <a:off x="5749290" y="1666629"/>
            <a:ext cx="2920418" cy="447928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rcRect r="13385"/>
          <a:stretch>
            <a:fillRect/>
          </a:stretch>
        </p:blipFill>
        <p:spPr>
          <a:xfrm>
            <a:off x="8982056" y="1666629"/>
            <a:ext cx="2880000" cy="447928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908146" y="6314421"/>
            <a:ext cx="357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当数据规模分别为</a:t>
            </a:r>
            <a:r>
              <a:rPr lang="en-US" altLang="zh-CN" dirty="0"/>
              <a:t>9*9</a:t>
            </a:r>
            <a:r>
              <a:rPr lang="zh-CN" altLang="en-US" dirty="0"/>
              <a:t>和</a:t>
            </a:r>
            <a:r>
              <a:rPr lang="en-US" altLang="zh-CN" dirty="0"/>
              <a:t>10*10</a:t>
            </a:r>
            <a:r>
              <a:rPr lang="zh-CN" altLang="en-US" dirty="0"/>
              <a:t>时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63245" y="2167334"/>
            <a:ext cx="471002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	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通过观察花费时间可以发现，未优化的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DFS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在矩阵规模为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10*10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时已经表现的比较吃力，需要将近一分钟才能完成计算；而时间复杂度相同的优化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DFS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后与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DP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相比，由于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DFS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采用的是递归，所以需要反复调用函数和内部栈，产生额外的时间开销，最终比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DP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略慢一些。因此，综合来看，是采用递推的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DP</a:t>
            </a:r>
            <a:r>
              <a:rPr kumimoji="1" lang="zh-CN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在运算速度上最快。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23227">
        <p159:morph option="byObject"/>
      </p:transition>
    </mc:Choice>
    <mc:Fallback>
      <p:transition spd="med" advTm="23227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4.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测试与总结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1389308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存在不足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918"/>
          <a:stretch>
            <a:fillRect/>
          </a:stretch>
        </p:blipFill>
        <p:spPr>
          <a:xfrm>
            <a:off x="4168886" y="1680380"/>
            <a:ext cx="3160807" cy="467617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043902" y="6449439"/>
            <a:ext cx="5410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最大值相同，但是在图形化显示时表现不同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5827">
        <p159:morph option="byObject"/>
      </p:transition>
    </mc:Choice>
    <mc:Fallback>
      <p:transition spd="med" advTm="15827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4.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测试与总结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1389308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存在不足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822731" y="2194622"/>
                <a:ext cx="10546537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	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对时间复杂度进行分析，无论是</a:t>
                </a:r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DFS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还是</a:t>
                </a:r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DP,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找到最优答案的前提都是遍历所有的状态至少一次。</a:t>
                </a:r>
                <a:endParaRPr kumimoji="1" lang="en-US" altLang="zh-CN" sz="2200" dirty="0">
                  <a:solidFill>
                    <a:schemeClr val="tx2">
                      <a:lumMod val="50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  <a:p>
                <a:pPr algn="just"/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	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再对状态的总数进行讨论，虽然在</a:t>
                </a:r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DFS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中，状态虽然有四个维度，但根据之前的讨论，当前三个坐标已知时，第四个坐标的信息是确定的，所以四维状态与三维状态的总数是相同的，所以只需要讨论前三个坐标的组合，而坐标的取值一定是在</a:t>
                </a:r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[1,n]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内的整数，所以状态总数为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20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华文中宋" panose="02010600040101010101" charset="-122"/>
                          </a:rPr>
                        </m:ctrlPr>
                      </m:sSupPr>
                      <m:e>
                        <m:r>
                          <a:rPr kumimoji="1" lang="en-US" altLang="zh-CN" sz="22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华文中宋" panose="02010600040101010101" charset="-122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2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华文中宋" panose="02010600040101010101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个，因此得出优化后的</a:t>
                </a:r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DFS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与</a:t>
                </a:r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DP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的时间复杂度均为</a:t>
                </a:r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2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华文中宋" panose="02010600040101010101" charset="-122"/>
                          </a:rPr>
                        </m:ctrlPr>
                      </m:sSupPr>
                      <m:e>
                        <m:r>
                          <a:rPr kumimoji="1" lang="en-US" altLang="zh-CN" sz="22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华文中宋" panose="02010600040101010101" charset="-122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2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华文中宋" panose="02010600040101010101" charset="-122"/>
                          </a:rPr>
                          <m:t>3</m:t>
                        </m:r>
                      </m:sup>
                    </m:sSup>
                    <m:r>
                      <a:rPr kumimoji="1" lang="en-US" altLang="zh-CN" sz="22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华文中宋" panose="02010600040101010101" charset="-122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)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，在数据范围较大时仍然需要优化。</a:t>
                </a:r>
                <a:endParaRPr kumimoji="1" lang="en-US" altLang="zh-CN" sz="2200" dirty="0">
                  <a:solidFill>
                    <a:schemeClr val="tx2">
                      <a:lumMod val="50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  <a:p>
                <a:pPr algn="just"/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 	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通过查询资料，发现可以通过网络流优化为</a:t>
                </a:r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20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华文中宋" panose="02010600040101010101" charset="-122"/>
                          </a:rPr>
                        </m:ctrlPr>
                      </m:sSupPr>
                      <m:e>
                        <m:r>
                          <a:rPr kumimoji="1" lang="en-US" altLang="zh-CN" sz="22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华文中宋" panose="02010600040101010101" charset="-122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2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华文中宋" panose="02010600040101010101" charset="-122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kumimoji="1" lang="en-US" altLang="zh-CN" sz="220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华文中宋" panose="02010600040101010101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200" i="0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华文中宋" panose="02010600040101010101" charset="-122"/>
                          </a:rPr>
                          <m:t>log</m:t>
                        </m:r>
                      </m:fName>
                      <m:e>
                        <m:r>
                          <a:rPr kumimoji="1" lang="en-US" altLang="zh-CN" sz="2200" b="0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华文中宋" panose="02010600040101010101" charset="-122"/>
                          </a:rPr>
                          <m:t>𝑛</m:t>
                        </m:r>
                      </m:e>
                    </m:func>
                  </m:oMath>
                </a14:m>
                <a:r>
                  <a:rPr kumimoji="1" lang="en-US" altLang="zh-CN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),</a:t>
                </a:r>
                <a:r>
                  <a:rPr kumimoji="1" lang="zh-CN" altLang="en-US" sz="2200" dirty="0">
                    <a:solidFill>
                      <a:schemeClr val="tx2">
                        <a:lumMod val="50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</a:rPr>
                  <a:t>但需要对图论有较为深入的了解。</a:t>
                </a:r>
                <a:endParaRPr kumimoji="1" lang="en-US" altLang="zh-CN" sz="2200" dirty="0">
                  <a:solidFill>
                    <a:schemeClr val="tx2">
                      <a:lumMod val="50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731" y="2194622"/>
                <a:ext cx="10546537" cy="3139321"/>
              </a:xfrm>
              <a:prstGeom prst="rect">
                <a:avLst/>
              </a:prstGeom>
              <a:blipFill rotWithShape="1">
                <a:blip r:embed="rId6"/>
                <a:stretch>
                  <a:fillRect l="-4" t="-2" r="2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6963">
        <p159:morph option="byObject"/>
      </p:transition>
    </mc:Choice>
    <mc:Fallback>
      <p:transition spd="med" advTm="16963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>
            <p:custDataLst>
              <p:tags r:id="rId1"/>
            </p:custDataLst>
          </p:nvPr>
        </p:nvSpPr>
        <p:spPr>
          <a:xfrm>
            <a:off x="-397323" y="292"/>
            <a:ext cx="13160188" cy="956889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5D9D72">
                  <a:alpha val="100000"/>
                </a:srgbClr>
              </a:gs>
              <a:gs pos="49000">
                <a:srgbClr val="6EA844"/>
              </a:gs>
              <a:gs pos="100000">
                <a:srgbClr val="1D7546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19" name="任意多边形: 形状 3"/>
          <p:cNvSpPr/>
          <p:nvPr/>
        </p:nvSpPr>
        <p:spPr>
          <a:xfrm>
            <a:off x="-497205" y="-2540"/>
            <a:ext cx="984250" cy="959485"/>
          </a:xfrm>
          <a:custGeom>
            <a:avLst/>
            <a:gdLst>
              <a:gd name="connsiteX0" fmla="*/ 365592 w 719551"/>
              <a:gd name="connsiteY0" fmla="*/ 49251 h 694328"/>
              <a:gd name="connsiteX1" fmla="*/ 383631 w 719551"/>
              <a:gd name="connsiteY1" fmla="*/ 88893 h 694328"/>
              <a:gd name="connsiteX2" fmla="*/ 371605 w 719551"/>
              <a:gd name="connsiteY2" fmla="*/ 228239 h 694328"/>
              <a:gd name="connsiteX3" fmla="*/ 364390 w 719551"/>
              <a:gd name="connsiteY3" fmla="*/ 245057 h 694328"/>
              <a:gd name="connsiteX4" fmla="*/ 333122 w 719551"/>
              <a:gd name="connsiteY4" fmla="*/ 103308 h 694328"/>
              <a:gd name="connsiteX5" fmla="*/ 365592 w 719551"/>
              <a:gd name="connsiteY5" fmla="*/ 49251 h 694328"/>
              <a:gd name="connsiteX6" fmla="*/ 359579 w 719551"/>
              <a:gd name="connsiteY6" fmla="*/ 0 h 694328"/>
              <a:gd name="connsiteX7" fmla="*/ 691893 w 719551"/>
              <a:gd name="connsiteY7" fmla="*/ 220450 h 694328"/>
              <a:gd name="connsiteX8" fmla="*/ 712525 w 719551"/>
              <a:gd name="connsiteY8" fmla="*/ 286472 h 694328"/>
              <a:gd name="connsiteX9" fmla="*/ 719551 w 719551"/>
              <a:gd name="connsiteY9" fmla="*/ 356173 h 694328"/>
              <a:gd name="connsiteX10" fmla="*/ 712152 w 719551"/>
              <a:gd name="connsiteY10" fmla="*/ 429569 h 694328"/>
              <a:gd name="connsiteX11" fmla="*/ 694106 w 719551"/>
              <a:gd name="connsiteY11" fmla="*/ 487706 h 694328"/>
              <a:gd name="connsiteX12" fmla="*/ 671448 w 719551"/>
              <a:gd name="connsiteY12" fmla="*/ 533826 h 694328"/>
              <a:gd name="connsiteX13" fmla="*/ 657355 w 719551"/>
              <a:gd name="connsiteY13" fmla="*/ 559790 h 694328"/>
              <a:gd name="connsiteX14" fmla="*/ 634026 w 719551"/>
              <a:gd name="connsiteY14" fmla="*/ 588066 h 694328"/>
              <a:gd name="connsiteX15" fmla="*/ 601635 w 719551"/>
              <a:gd name="connsiteY15" fmla="*/ 622971 h 694328"/>
              <a:gd name="connsiteX16" fmla="*/ 567891 w 719551"/>
              <a:gd name="connsiteY16" fmla="*/ 650812 h 694328"/>
              <a:gd name="connsiteX17" fmla="*/ 515863 w 719551"/>
              <a:gd name="connsiteY17" fmla="*/ 681565 h 694328"/>
              <a:gd name="connsiteX18" fmla="*/ 497126 w 719551"/>
              <a:gd name="connsiteY18" fmla="*/ 691735 h 694328"/>
              <a:gd name="connsiteX19" fmla="*/ 491302 w 719551"/>
              <a:gd name="connsiteY19" fmla="*/ 693543 h 694328"/>
              <a:gd name="connsiteX20" fmla="*/ 482245 w 719551"/>
              <a:gd name="connsiteY20" fmla="*/ 689523 h 694328"/>
              <a:gd name="connsiteX21" fmla="*/ 364390 w 719551"/>
              <a:gd name="connsiteY21" fmla="*/ 609038 h 694328"/>
              <a:gd name="connsiteX22" fmla="*/ 361985 w 719551"/>
              <a:gd name="connsiteY22" fmla="*/ 601831 h 694328"/>
              <a:gd name="connsiteX23" fmla="*/ 424520 w 719551"/>
              <a:gd name="connsiteY23" fmla="*/ 512938 h 694328"/>
              <a:gd name="connsiteX24" fmla="*/ 489461 w 719551"/>
              <a:gd name="connsiteY24" fmla="*/ 446868 h 694328"/>
              <a:gd name="connsiteX25" fmla="*/ 475029 w 719551"/>
              <a:gd name="connsiteY25" fmla="*/ 418038 h 694328"/>
              <a:gd name="connsiteX26" fmla="*/ 430533 w 719551"/>
              <a:gd name="connsiteY26" fmla="*/ 445667 h 694328"/>
              <a:gd name="connsiteX27" fmla="*/ 424520 w 719551"/>
              <a:gd name="connsiteY27" fmla="*/ 512938 h 694328"/>
              <a:gd name="connsiteX28" fmla="*/ 416102 w 719551"/>
              <a:gd name="connsiteY28" fmla="*/ 377195 h 694328"/>
              <a:gd name="connsiteX29" fmla="*/ 424520 w 719551"/>
              <a:gd name="connsiteY29" fmla="*/ 243855 h 694328"/>
              <a:gd name="connsiteX30" fmla="*/ 489461 w 719551"/>
              <a:gd name="connsiteY30" fmla="*/ 177786 h 694328"/>
              <a:gd name="connsiteX31" fmla="*/ 471422 w 719551"/>
              <a:gd name="connsiteY31" fmla="*/ 144151 h 694328"/>
              <a:gd name="connsiteX32" fmla="*/ 432938 w 719551"/>
              <a:gd name="connsiteY32" fmla="*/ 315931 h 694328"/>
              <a:gd name="connsiteX33" fmla="*/ 418507 w 719551"/>
              <a:gd name="connsiteY33" fmla="*/ 375994 h 694328"/>
              <a:gd name="connsiteX34" fmla="*/ 422115 w 719551"/>
              <a:gd name="connsiteY34" fmla="*/ 374793 h 694328"/>
              <a:gd name="connsiteX35" fmla="*/ 511108 w 719551"/>
              <a:gd name="connsiteY35" fmla="*/ 266679 h 694328"/>
              <a:gd name="connsiteX36" fmla="*/ 476232 w 719551"/>
              <a:gd name="connsiteY36" fmla="*/ 416837 h 694328"/>
              <a:gd name="connsiteX37" fmla="*/ 432938 w 719551"/>
              <a:gd name="connsiteY37" fmla="*/ 586214 h 694328"/>
              <a:gd name="connsiteX38" fmla="*/ 420912 w 719551"/>
              <a:gd name="connsiteY38" fmla="*/ 647479 h 694328"/>
              <a:gd name="connsiteX39" fmla="*/ 680675 w 719551"/>
              <a:gd name="connsiteY39" fmla="*/ 332749 h 694328"/>
              <a:gd name="connsiteX40" fmla="*/ 359579 w 719551"/>
              <a:gd name="connsiteY40" fmla="*/ 13214 h 694328"/>
              <a:gd name="connsiteX41" fmla="*/ 39686 w 719551"/>
              <a:gd name="connsiteY41" fmla="*/ 332749 h 694328"/>
              <a:gd name="connsiteX42" fmla="*/ 301854 w 719551"/>
              <a:gd name="connsiteY42" fmla="*/ 648680 h 694328"/>
              <a:gd name="connsiteX43" fmla="*/ 288626 w 719551"/>
              <a:gd name="connsiteY43" fmla="*/ 586214 h 694328"/>
              <a:gd name="connsiteX44" fmla="*/ 245332 w 719551"/>
              <a:gd name="connsiteY44" fmla="*/ 416837 h 694328"/>
              <a:gd name="connsiteX45" fmla="*/ 211659 w 719551"/>
              <a:gd name="connsiteY45" fmla="*/ 266679 h 694328"/>
              <a:gd name="connsiteX46" fmla="*/ 299449 w 719551"/>
              <a:gd name="connsiteY46" fmla="*/ 374793 h 694328"/>
              <a:gd name="connsiteX47" fmla="*/ 303057 w 719551"/>
              <a:gd name="connsiteY47" fmla="*/ 375994 h 694328"/>
              <a:gd name="connsiteX48" fmla="*/ 288626 w 719551"/>
              <a:gd name="connsiteY48" fmla="*/ 315931 h 694328"/>
              <a:gd name="connsiteX49" fmla="*/ 250142 w 719551"/>
              <a:gd name="connsiteY49" fmla="*/ 144151 h 694328"/>
              <a:gd name="connsiteX50" fmla="*/ 233306 w 719551"/>
              <a:gd name="connsiteY50" fmla="*/ 177786 h 694328"/>
              <a:gd name="connsiteX51" fmla="*/ 298246 w 719551"/>
              <a:gd name="connsiteY51" fmla="*/ 243855 h 694328"/>
              <a:gd name="connsiteX52" fmla="*/ 306665 w 719551"/>
              <a:gd name="connsiteY52" fmla="*/ 377195 h 694328"/>
              <a:gd name="connsiteX53" fmla="*/ 298246 w 719551"/>
              <a:gd name="connsiteY53" fmla="*/ 512938 h 694328"/>
              <a:gd name="connsiteX54" fmla="*/ 291031 w 719551"/>
              <a:gd name="connsiteY54" fmla="*/ 445667 h 694328"/>
              <a:gd name="connsiteX55" fmla="*/ 246534 w 719551"/>
              <a:gd name="connsiteY55" fmla="*/ 418038 h 694328"/>
              <a:gd name="connsiteX56" fmla="*/ 233306 w 719551"/>
              <a:gd name="connsiteY56" fmla="*/ 446868 h 694328"/>
              <a:gd name="connsiteX57" fmla="*/ 298246 w 719551"/>
              <a:gd name="connsiteY57" fmla="*/ 512938 h 694328"/>
              <a:gd name="connsiteX58" fmla="*/ 358377 w 719551"/>
              <a:gd name="connsiteY58" fmla="*/ 601831 h 694328"/>
              <a:gd name="connsiteX59" fmla="*/ 355972 w 719551"/>
              <a:gd name="connsiteY59" fmla="*/ 607837 h 694328"/>
              <a:gd name="connsiteX60" fmla="*/ 238116 w 719551"/>
              <a:gd name="connsiteY60" fmla="*/ 690724 h 694328"/>
              <a:gd name="connsiteX61" fmla="*/ 227293 w 719551"/>
              <a:gd name="connsiteY61" fmla="*/ 694328 h 694328"/>
              <a:gd name="connsiteX62" fmla="*/ 0 w 719551"/>
              <a:gd name="connsiteY62" fmla="*/ 360378 h 694328"/>
              <a:gd name="connsiteX63" fmla="*/ 359579 w 719551"/>
              <a:gd name="connsiteY63" fmla="*/ 0 h 6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719551" h="694328">
                <a:moveTo>
                  <a:pt x="365592" y="49251"/>
                </a:moveTo>
                <a:cubicBezTo>
                  <a:pt x="365592" y="54056"/>
                  <a:pt x="383631" y="88893"/>
                  <a:pt x="383631" y="88893"/>
                </a:cubicBezTo>
                <a:cubicBezTo>
                  <a:pt x="426925" y="153761"/>
                  <a:pt x="372808" y="225837"/>
                  <a:pt x="371605" y="228239"/>
                </a:cubicBezTo>
                <a:cubicBezTo>
                  <a:pt x="369200" y="230642"/>
                  <a:pt x="364390" y="239050"/>
                  <a:pt x="364390" y="245057"/>
                </a:cubicBezTo>
                <a:cubicBezTo>
                  <a:pt x="300652" y="199409"/>
                  <a:pt x="318691" y="126132"/>
                  <a:pt x="333122" y="103308"/>
                </a:cubicBezTo>
                <a:cubicBezTo>
                  <a:pt x="348756" y="79283"/>
                  <a:pt x="365592" y="49251"/>
                  <a:pt x="365592" y="49251"/>
                </a:cubicBezTo>
                <a:close/>
                <a:moveTo>
                  <a:pt x="359579" y="0"/>
                </a:moveTo>
                <a:cubicBezTo>
                  <a:pt x="508402" y="0"/>
                  <a:pt x="636930" y="91220"/>
                  <a:pt x="691893" y="220450"/>
                </a:cubicBezTo>
                <a:lnTo>
                  <a:pt x="712525" y="286472"/>
                </a:lnTo>
                <a:lnTo>
                  <a:pt x="719551" y="356173"/>
                </a:lnTo>
                <a:cubicBezTo>
                  <a:pt x="719551" y="381315"/>
                  <a:pt x="717004" y="405861"/>
                  <a:pt x="712152" y="429569"/>
                </a:cubicBezTo>
                <a:lnTo>
                  <a:pt x="694106" y="487706"/>
                </a:lnTo>
                <a:lnTo>
                  <a:pt x="671448" y="533826"/>
                </a:lnTo>
                <a:lnTo>
                  <a:pt x="657355" y="559790"/>
                </a:lnTo>
                <a:lnTo>
                  <a:pt x="634026" y="588066"/>
                </a:lnTo>
                <a:lnTo>
                  <a:pt x="601635" y="622971"/>
                </a:lnTo>
                <a:lnTo>
                  <a:pt x="567891" y="650812"/>
                </a:lnTo>
                <a:lnTo>
                  <a:pt x="515863" y="681565"/>
                </a:lnTo>
                <a:lnTo>
                  <a:pt x="497126" y="691735"/>
                </a:lnTo>
                <a:lnTo>
                  <a:pt x="491302" y="693543"/>
                </a:lnTo>
                <a:lnTo>
                  <a:pt x="482245" y="689523"/>
                </a:lnTo>
                <a:cubicBezTo>
                  <a:pt x="430533" y="667900"/>
                  <a:pt x="378821" y="641472"/>
                  <a:pt x="364390" y="609038"/>
                </a:cubicBezTo>
                <a:cubicBezTo>
                  <a:pt x="363187" y="605435"/>
                  <a:pt x="361985" y="604233"/>
                  <a:pt x="361985" y="601831"/>
                </a:cubicBezTo>
                <a:cubicBezTo>
                  <a:pt x="353566" y="574202"/>
                  <a:pt x="375213" y="539365"/>
                  <a:pt x="424520" y="512938"/>
                </a:cubicBezTo>
                <a:cubicBezTo>
                  <a:pt x="466611" y="491315"/>
                  <a:pt x="493069" y="464887"/>
                  <a:pt x="489461" y="446868"/>
                </a:cubicBezTo>
                <a:cubicBezTo>
                  <a:pt x="485853" y="432453"/>
                  <a:pt x="479840" y="422843"/>
                  <a:pt x="475029" y="418038"/>
                </a:cubicBezTo>
                <a:cubicBezTo>
                  <a:pt x="463003" y="428849"/>
                  <a:pt x="448572" y="438460"/>
                  <a:pt x="430533" y="445667"/>
                </a:cubicBezTo>
                <a:cubicBezTo>
                  <a:pt x="384834" y="470894"/>
                  <a:pt x="424520" y="512938"/>
                  <a:pt x="424520" y="512938"/>
                </a:cubicBezTo>
                <a:cubicBezTo>
                  <a:pt x="396860" y="509334"/>
                  <a:pt x="328312" y="428849"/>
                  <a:pt x="416102" y="377195"/>
                </a:cubicBezTo>
                <a:cubicBezTo>
                  <a:pt x="386037" y="366384"/>
                  <a:pt x="335527" y="290705"/>
                  <a:pt x="424520" y="243855"/>
                </a:cubicBezTo>
                <a:cubicBezTo>
                  <a:pt x="466611" y="221032"/>
                  <a:pt x="493069" y="195805"/>
                  <a:pt x="489461" y="177786"/>
                </a:cubicBezTo>
                <a:cubicBezTo>
                  <a:pt x="484650" y="156164"/>
                  <a:pt x="471422" y="144151"/>
                  <a:pt x="471422" y="144151"/>
                </a:cubicBezTo>
                <a:cubicBezTo>
                  <a:pt x="501487" y="164572"/>
                  <a:pt x="592885" y="222233"/>
                  <a:pt x="432938" y="315931"/>
                </a:cubicBezTo>
                <a:cubicBezTo>
                  <a:pt x="394455" y="337554"/>
                  <a:pt x="411291" y="367585"/>
                  <a:pt x="418507" y="375994"/>
                </a:cubicBezTo>
                <a:cubicBezTo>
                  <a:pt x="419710" y="375994"/>
                  <a:pt x="420912" y="374793"/>
                  <a:pt x="422115" y="374793"/>
                </a:cubicBezTo>
                <a:cubicBezTo>
                  <a:pt x="518323" y="323139"/>
                  <a:pt x="511108" y="266679"/>
                  <a:pt x="511108" y="266679"/>
                </a:cubicBezTo>
                <a:cubicBezTo>
                  <a:pt x="529147" y="287101"/>
                  <a:pt x="531552" y="365183"/>
                  <a:pt x="476232" y="416837"/>
                </a:cubicBezTo>
                <a:cubicBezTo>
                  <a:pt x="509905" y="439661"/>
                  <a:pt x="584467" y="496120"/>
                  <a:pt x="432938" y="586214"/>
                </a:cubicBezTo>
                <a:cubicBezTo>
                  <a:pt x="388442" y="610240"/>
                  <a:pt x="418507" y="646277"/>
                  <a:pt x="420912" y="647479"/>
                </a:cubicBezTo>
                <a:cubicBezTo>
                  <a:pt x="568833" y="619850"/>
                  <a:pt x="680675" y="488912"/>
                  <a:pt x="680675" y="332749"/>
                </a:cubicBezTo>
                <a:cubicBezTo>
                  <a:pt x="680675" y="157365"/>
                  <a:pt x="536362" y="13214"/>
                  <a:pt x="359579" y="13214"/>
                </a:cubicBezTo>
                <a:cubicBezTo>
                  <a:pt x="182796" y="13214"/>
                  <a:pt x="39686" y="157365"/>
                  <a:pt x="39686" y="332749"/>
                </a:cubicBezTo>
                <a:cubicBezTo>
                  <a:pt x="39686" y="490114"/>
                  <a:pt x="152731" y="621051"/>
                  <a:pt x="301854" y="648680"/>
                </a:cubicBezTo>
                <a:cubicBezTo>
                  <a:pt x="301854" y="648680"/>
                  <a:pt x="334325" y="610240"/>
                  <a:pt x="288626" y="586214"/>
                </a:cubicBezTo>
                <a:cubicBezTo>
                  <a:pt x="137097" y="496120"/>
                  <a:pt x="212861" y="439661"/>
                  <a:pt x="245332" y="416837"/>
                </a:cubicBezTo>
                <a:cubicBezTo>
                  <a:pt x="190012" y="365183"/>
                  <a:pt x="193620" y="287101"/>
                  <a:pt x="211659" y="266679"/>
                </a:cubicBezTo>
                <a:cubicBezTo>
                  <a:pt x="211659" y="266679"/>
                  <a:pt x="204443" y="323139"/>
                  <a:pt x="299449" y="374793"/>
                </a:cubicBezTo>
                <a:cubicBezTo>
                  <a:pt x="300652" y="374793"/>
                  <a:pt x="301854" y="375994"/>
                  <a:pt x="303057" y="375994"/>
                </a:cubicBezTo>
                <a:cubicBezTo>
                  <a:pt x="310273" y="367585"/>
                  <a:pt x="327109" y="337554"/>
                  <a:pt x="288626" y="315931"/>
                </a:cubicBezTo>
                <a:cubicBezTo>
                  <a:pt x="128679" y="222233"/>
                  <a:pt x="220077" y="164572"/>
                  <a:pt x="250142" y="144151"/>
                </a:cubicBezTo>
                <a:cubicBezTo>
                  <a:pt x="250142" y="144151"/>
                  <a:pt x="238116" y="156164"/>
                  <a:pt x="233306" y="177786"/>
                </a:cubicBezTo>
                <a:cubicBezTo>
                  <a:pt x="228495" y="195805"/>
                  <a:pt x="254953" y="221032"/>
                  <a:pt x="298246" y="243855"/>
                </a:cubicBezTo>
                <a:cubicBezTo>
                  <a:pt x="386037" y="290705"/>
                  <a:pt x="335527" y="366384"/>
                  <a:pt x="306665" y="377195"/>
                </a:cubicBezTo>
                <a:cubicBezTo>
                  <a:pt x="393252" y="428849"/>
                  <a:pt x="325906" y="509334"/>
                  <a:pt x="298246" y="512938"/>
                </a:cubicBezTo>
                <a:cubicBezTo>
                  <a:pt x="298246" y="512938"/>
                  <a:pt x="336730" y="470894"/>
                  <a:pt x="291031" y="445667"/>
                </a:cubicBezTo>
                <a:cubicBezTo>
                  <a:pt x="272992" y="438460"/>
                  <a:pt x="258561" y="428849"/>
                  <a:pt x="246534" y="418038"/>
                </a:cubicBezTo>
                <a:cubicBezTo>
                  <a:pt x="242927" y="422843"/>
                  <a:pt x="235711" y="432453"/>
                  <a:pt x="233306" y="446868"/>
                </a:cubicBezTo>
                <a:cubicBezTo>
                  <a:pt x="228495" y="464887"/>
                  <a:pt x="254953" y="491315"/>
                  <a:pt x="298246" y="512938"/>
                </a:cubicBezTo>
                <a:cubicBezTo>
                  <a:pt x="346351" y="539365"/>
                  <a:pt x="366795" y="574202"/>
                  <a:pt x="358377" y="601831"/>
                </a:cubicBezTo>
                <a:cubicBezTo>
                  <a:pt x="357174" y="604233"/>
                  <a:pt x="357174" y="605435"/>
                  <a:pt x="355972" y="607837"/>
                </a:cubicBezTo>
                <a:cubicBezTo>
                  <a:pt x="341540" y="641472"/>
                  <a:pt x="291031" y="667900"/>
                  <a:pt x="238116" y="690724"/>
                </a:cubicBezTo>
                <a:cubicBezTo>
                  <a:pt x="234508" y="691925"/>
                  <a:pt x="230901" y="693127"/>
                  <a:pt x="227293" y="694328"/>
                </a:cubicBezTo>
                <a:cubicBezTo>
                  <a:pt x="93804" y="641472"/>
                  <a:pt x="0" y="511736"/>
                  <a:pt x="0" y="360378"/>
                </a:cubicBezTo>
                <a:cubicBezTo>
                  <a:pt x="0" y="162170"/>
                  <a:pt x="161149" y="0"/>
                  <a:pt x="35957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0"/>
                </a:schemeClr>
              </a:gs>
              <a:gs pos="42000">
                <a:srgbClr val="FFC000"/>
              </a:gs>
              <a:gs pos="74000">
                <a:schemeClr val="accent4">
                  <a:lumMod val="50000"/>
                </a:schemeClr>
              </a:gs>
              <a:gs pos="93000">
                <a:schemeClr val="accent4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87045" y="173990"/>
            <a:ext cx="526224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4. </a:t>
            </a:r>
            <a:r>
              <a:rPr lang="zh-CN" altLang="en-US" sz="3800" spc="1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测试与总结</a:t>
            </a:r>
            <a:endParaRPr lang="zh-CN" altLang="en-US" sz="3800" spc="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endParaRPr lang="zh-CN" altLang="en-US" sz="3800" spc="100" dirty="0">
              <a:solidFill>
                <a:schemeClr val="bg1"/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563245" y="1587500"/>
            <a:ext cx="1788069" cy="95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87045" y="1065530"/>
            <a:ext cx="659257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>
                <a:ln w="38100">
                  <a:noFill/>
                </a:ln>
                <a:solidFill>
                  <a:srgbClr val="CA0000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 dirty="0">
                <a:solidFill>
                  <a:srgbClr val="2E461C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大模型实践</a:t>
            </a:r>
            <a:endParaRPr lang="zh-CN" altLang="en-US" sz="2800" dirty="0">
              <a:solidFill>
                <a:srgbClr val="2E461C"/>
              </a:solidFill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9356" y="1713141"/>
            <a:ext cx="2934352" cy="436377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329290" y="6094546"/>
            <a:ext cx="4028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DeepseekV3</a:t>
            </a:r>
            <a:r>
              <a:rPr lang="zh-CN" altLang="en-US" dirty="0"/>
              <a:t>生成伪代码中的错误注释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20007" y="1587500"/>
            <a:ext cx="827772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主要是在算法描述环节，通过输入源代码，命令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DeepseekV3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辅助生成伪代码。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  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在对未优化和已优化的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DFS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源代码生成伪代码时，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Deepseek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表现良好，但是在对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DP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源代码进行转换时，出现了错误。由于在使用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DP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时，将四维的状态压缩到了三维，隐藏了第四维，在路径移动时第四维的变化，由前三维的变化间接体现。但是，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Deepseek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并未认识到这一处理，虽然正确生成了伪代码，但在路径移动部分对情况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1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、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4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的注释出现错误。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     这一错误的出现，个人认为原因有两个：一、三维的状态存储在逻辑上绕了一个弯子，而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Deepseek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虽然对直接信息的处理较好，但对这种潜在信息的解读能力不够；二、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Deepseek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对之前的输入有着记忆与联想，在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DP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前输入的</a:t>
            </a:r>
            <a:r>
              <a:rPr kumimoji="1" lang="en-US" altLang="zh-CN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DFS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代码中，四维的存储方式影响了</a:t>
            </a:r>
            <a:r>
              <a:rPr kumimoji="1" lang="en-US" altLang="zh-CN" sz="2200" dirty="0" err="1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Deepseek</a:t>
            </a:r>
            <a:r>
              <a:rPr kumimoji="1" lang="zh-CN" altLang="en-US" sz="2200" dirty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后续的解读，仍然是以之前直接的方式来理解对状态的三维表示，最终导致了错误。</a:t>
            </a:r>
            <a:endParaRPr kumimoji="1" lang="zh-CN" altLang="en-US" sz="2200" dirty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377756" y="2083182"/>
            <a:ext cx="1918178" cy="1856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384631" y="5117359"/>
            <a:ext cx="1918178" cy="1856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37489">
        <p159:morph option="byObject"/>
      </p:transition>
    </mc:Choice>
    <mc:Fallback>
      <p:transition spd="med" advTm="37489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211034" cy="6858000"/>
          </a:xfrm>
          <a:prstGeom prst="rect">
            <a:avLst/>
          </a:prstGeom>
          <a:gradFill>
            <a:gsLst>
              <a:gs pos="35000">
                <a:srgbClr val="479F72">
                  <a:alpha val="90000"/>
                </a:srgbClr>
              </a:gs>
              <a:gs pos="100000">
                <a:srgbClr val="35823C">
                  <a:alpha val="0"/>
                </a:srgbClr>
              </a:gs>
              <a:gs pos="0">
                <a:srgbClr val="479F72"/>
              </a:gs>
            </a:gsLst>
            <a:lin ang="0" scaled="1"/>
          </a:gradFill>
          <a:ln>
            <a:noFill/>
          </a:ln>
        </p:spPr>
        <p:style>
          <a:lnRef idx="2">
            <a:srgbClr val="86C131">
              <a:shade val="50000"/>
            </a:srgbClr>
          </a:lnRef>
          <a:fillRef idx="1">
            <a:srgbClr val="86C131"/>
          </a:fillRef>
          <a:effectRef idx="0">
            <a:srgbClr val="86C131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4" name="矩形 63"/>
          <p:cNvSpPr/>
          <p:nvPr>
            <p:custDataLst>
              <p:tags r:id="rId1"/>
            </p:custDataLst>
          </p:nvPr>
        </p:nvSpPr>
        <p:spPr>
          <a:xfrm>
            <a:off x="0" y="0"/>
            <a:ext cx="12192635" cy="6857365"/>
          </a:xfrm>
          <a:prstGeom prst="rect">
            <a:avLst/>
          </a:prstGeom>
          <a:solidFill>
            <a:srgbClr val="1A6A4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带字透明底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740" b="22457"/>
          <a:stretch>
            <a:fillRect/>
          </a:stretch>
        </p:blipFill>
        <p:spPr>
          <a:xfrm>
            <a:off x="9144000" y="103505"/>
            <a:ext cx="3048000" cy="74612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2150110" y="1676400"/>
            <a:ext cx="7910830" cy="3349625"/>
          </a:xfrm>
          <a:prstGeom prst="roundRect">
            <a:avLst/>
          </a:prstGeom>
          <a:solidFill>
            <a:srgbClr val="FFFDF5"/>
          </a:solidFill>
          <a:ln>
            <a:noFill/>
          </a:ln>
          <a:effectLst>
            <a:outerShdw blurRad="127000" dist="38100" dir="27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761615" y="2612390"/>
            <a:ext cx="66878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spc="200">
                <a:solidFill>
                  <a:srgbClr val="2E461C"/>
                </a:solidFill>
                <a:uFillTx/>
                <a:latin typeface="华文中宋" panose="02010600040101010101" charset="-122"/>
                <a:ea typeface="华文中宋" panose="02010600040101010101" charset="-122"/>
              </a:rPr>
              <a:t>请老师批评指正！</a:t>
            </a:r>
            <a:endParaRPr lang="zh-CN" altLang="en-US" sz="6600" spc="200">
              <a:solidFill>
                <a:srgbClr val="2E461C"/>
              </a:solidFill>
              <a:uFillTx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advTm="1128">
        <p159:morph option="byObject"/>
      </p:transition>
    </mc:Choice>
    <mc:Fallback>
      <p:transition spd="med" advTm="112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8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9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3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4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5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18.xml><?xml version="1.0" encoding="utf-8"?>
<p:tagLst xmlns:p="http://schemas.openxmlformats.org/presentationml/2006/main">
  <p:tag name="KSO_WM_BEAUTIFY_FLAG" val=""/>
  <p:tag name="KSO_WM_DIAGRAM_VIRTUALLY_FRAME" val="{&quot;height&quot;:399.7,&quot;left&quot;:303.15,&quot;top&quot;:75.6,&quot;width&quot;:520.1}"/>
</p:tagLst>
</file>

<file path=ppt/tags/tag19.xml><?xml version="1.0" encoding="utf-8"?>
<p:tagLst xmlns:p="http://schemas.openxmlformats.org/presentationml/2006/main">
  <p:tag name="KSO_WM_DIAGRAM_VIRTUALLY_FRAME" val="{&quot;height&quot;:399.7,&quot;left&quot;:303.15,&quot;top&quot;:75.6,&quot;width&quot;:520.1}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PP_MARK_KEY" val="5ac09484-6d2c-4b80-be6e-a0ee2c1e6d77"/>
  <p:tag name="COMMONDATA" val="eyJoZGlkIjoiODQ5MzlmNzBjOTM2YzJmM2YwMTQyYmQzZjY3MzY0NDA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3859</Words>
  <Application>WPS 演示</Application>
  <PresentationFormat>宽屏</PresentationFormat>
  <Paragraphs>886</Paragraphs>
  <Slides>24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黑体</vt:lpstr>
      <vt:lpstr>华文中宋</vt:lpstr>
      <vt:lpstr>等线</vt:lpstr>
      <vt:lpstr>Calibri</vt:lpstr>
      <vt:lpstr>Arial Unicode MS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7490</dc:creator>
  <cp:lastModifiedBy>郑瑾</cp:lastModifiedBy>
  <cp:revision>68</cp:revision>
  <dcterms:created xsi:type="dcterms:W3CDTF">2023-05-15T12:02:00Z</dcterms:created>
  <dcterms:modified xsi:type="dcterms:W3CDTF">2026-04-20T15:21:17Z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678E0F76A9604F3D83F0C4F9FF64918D_12</vt:lpwstr>
  </property>
  <property fmtid="{D5CDD505-2E9C-101B-9397-08002B2CF9AE}" pid="3" name="KSOProductBuildVer">
    <vt:lpwstr>2052-12.1.0.24034</vt:lpwstr>
  </property>
</Properties>
</file>