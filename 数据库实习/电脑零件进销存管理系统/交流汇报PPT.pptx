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9" r:id="rId3"/>
    <p:sldId id="258" r:id="rId5"/>
    <p:sldId id="266" r:id="rId6"/>
    <p:sldId id="262" r:id="rId7"/>
    <p:sldId id="364" r:id="rId8"/>
    <p:sldId id="365" r:id="rId9"/>
    <p:sldId id="366" r:id="rId10"/>
    <p:sldId id="367" r:id="rId11"/>
    <p:sldId id="368" r:id="rId12"/>
    <p:sldId id="369" r:id="rId13"/>
    <p:sldId id="370" r:id="rId14"/>
    <p:sldId id="371" r:id="rId15"/>
    <p:sldId id="372" r:id="rId16"/>
    <p:sldId id="349" r:id="rId17"/>
    <p:sldId id="351" r:id="rId18"/>
    <p:sldId id="373" r:id="rId19"/>
    <p:sldId id="374" r:id="rId20"/>
    <p:sldId id="375" r:id="rId21"/>
    <p:sldId id="376" r:id="rId22"/>
    <p:sldId id="377" r:id="rId23"/>
    <p:sldId id="308" r:id="rId24"/>
    <p:sldId id="347" r:id="rId25"/>
    <p:sldId id="382" r:id="rId26"/>
    <p:sldId id="385" r:id="rId27"/>
    <p:sldId id="384" r:id="rId28"/>
    <p:sldId id="386" r:id="rId29"/>
    <p:sldId id="387" r:id="rId30"/>
    <p:sldId id="380" r:id="rId31"/>
    <p:sldId id="388" r:id="rId32"/>
    <p:sldId id="381" r:id="rId33"/>
    <p:sldId id="389" r:id="rId34"/>
    <p:sldId id="390" r:id="rId35"/>
    <p:sldId id="399" r:id="rId36"/>
    <p:sldId id="401" r:id="rId37"/>
    <p:sldId id="400" r:id="rId38"/>
    <p:sldId id="391" r:id="rId39"/>
    <p:sldId id="398" r:id="rId40"/>
    <p:sldId id="402" r:id="rId41"/>
    <p:sldId id="403" r:id="rId42"/>
    <p:sldId id="404" r:id="rId43"/>
    <p:sldId id="333" r:id="rId44"/>
    <p:sldId id="355" r:id="rId45"/>
    <p:sldId id="338" r:id="rId46"/>
    <p:sldId id="264" r:id="rId47"/>
  </p:sldIdLst>
  <p:sldSz cx="12192000" cy="6858000"/>
  <p:notesSz cx="6858000" cy="9144000"/>
  <p:custDataLst>
    <p:tags r:id="rId5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AD54"/>
    <a:srgbClr val="1A6A40"/>
    <a:srgbClr val="FFFDF5"/>
    <a:srgbClr val="20824E"/>
    <a:srgbClr val="C5E0B4"/>
    <a:srgbClr val="F3BC15"/>
    <a:srgbClr val="2E461C"/>
    <a:srgbClr val="C1DFAE"/>
    <a:srgbClr val="F5FAF1"/>
    <a:srgbClr val="6DA8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01" autoAdjust="0"/>
    <p:restoredTop sz="94660"/>
  </p:normalViewPr>
  <p:slideViewPr>
    <p:cSldViewPr snapToGrid="0">
      <p:cViewPr varScale="1">
        <p:scale>
          <a:sx n="92" d="100"/>
          <a:sy n="92" d="100"/>
        </p:scale>
        <p:origin x="6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gs" Target="tags/tag177.xml"/><Relationship Id="rId51" Type="http://schemas.openxmlformats.org/officeDocument/2006/relationships/commentAuthors" Target="commentAuthors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/>
          <a:srcRect l="17523" t="18435" r="12988"/>
          <a:stretch>
            <a:fillRect/>
          </a:stretch>
        </p:blipFill>
        <p:spPr>
          <a:xfrm>
            <a:off x="0" y="-1"/>
            <a:ext cx="12192001" cy="6858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25.xml"/><Relationship Id="rId20" Type="http://schemas.openxmlformats.org/officeDocument/2006/relationships/tags" Target="../tags/tag24.xml"/><Relationship Id="rId2" Type="http://schemas.openxmlformats.org/officeDocument/2006/relationships/tags" Target="../tags/tag7.xml"/><Relationship Id="rId19" Type="http://schemas.openxmlformats.org/officeDocument/2006/relationships/tags" Target="../tags/tag23.xml"/><Relationship Id="rId18" Type="http://schemas.openxmlformats.org/officeDocument/2006/relationships/tags" Target="../tags/tag22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image" Target="../media/image3.png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tags" Target="../tags/tag30.xml"/><Relationship Id="rId3" Type="http://schemas.openxmlformats.org/officeDocument/2006/relationships/image" Target="../media/image3.png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tags" Target="../tags/tag33.xml"/><Relationship Id="rId3" Type="http://schemas.openxmlformats.org/officeDocument/2006/relationships/image" Target="../media/image3.png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emf"/><Relationship Id="rId4" Type="http://schemas.openxmlformats.org/officeDocument/2006/relationships/tags" Target="../tags/tag36.xml"/><Relationship Id="rId3" Type="http://schemas.openxmlformats.org/officeDocument/2006/relationships/image" Target="../media/image3.png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tags" Target="../tags/tag39.xml"/><Relationship Id="rId3" Type="http://schemas.openxmlformats.org/officeDocument/2006/relationships/image" Target="../media/image3.png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emf"/><Relationship Id="rId4" Type="http://schemas.openxmlformats.org/officeDocument/2006/relationships/tags" Target="../tags/tag42.xml"/><Relationship Id="rId3" Type="http://schemas.openxmlformats.org/officeDocument/2006/relationships/image" Target="../media/image3.png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tags" Target="../tags/tag45.xml"/><Relationship Id="rId3" Type="http://schemas.openxmlformats.org/officeDocument/2006/relationships/image" Target="../media/image3.png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0.emf"/><Relationship Id="rId4" Type="http://schemas.openxmlformats.org/officeDocument/2006/relationships/tags" Target="../tags/tag48.xml"/><Relationship Id="rId3" Type="http://schemas.openxmlformats.org/officeDocument/2006/relationships/image" Target="../media/image3.png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tags" Target="../tags/tag51.xml"/><Relationship Id="rId3" Type="http://schemas.openxmlformats.org/officeDocument/2006/relationships/image" Target="../media/image3.png"/><Relationship Id="rId2" Type="http://schemas.openxmlformats.org/officeDocument/2006/relationships/tags" Target="../tags/tag50.xml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49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6.emf"/><Relationship Id="rId4" Type="http://schemas.openxmlformats.org/officeDocument/2006/relationships/tags" Target="../tags/tag54.xml"/><Relationship Id="rId3" Type="http://schemas.openxmlformats.org/officeDocument/2006/relationships/image" Target="../media/image3.png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7.xml"/><Relationship Id="rId3" Type="http://schemas.openxmlformats.org/officeDocument/2006/relationships/image" Target="../media/image3.png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7.emf"/><Relationship Id="rId4" Type="http://schemas.openxmlformats.org/officeDocument/2006/relationships/tags" Target="../tags/tag62.xml"/><Relationship Id="rId3" Type="http://schemas.openxmlformats.org/officeDocument/2006/relationships/image" Target="../media/image3.png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8.emf"/><Relationship Id="rId4" Type="http://schemas.openxmlformats.org/officeDocument/2006/relationships/tags" Target="../tags/tag65.xml"/><Relationship Id="rId3" Type="http://schemas.openxmlformats.org/officeDocument/2006/relationships/image" Target="../media/image3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.emf"/><Relationship Id="rId4" Type="http://schemas.openxmlformats.org/officeDocument/2006/relationships/tags" Target="../tags/tag68.xml"/><Relationship Id="rId3" Type="http://schemas.openxmlformats.org/officeDocument/2006/relationships/image" Target="../media/image3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0.emf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1.emf"/><Relationship Id="rId4" Type="http://schemas.openxmlformats.org/officeDocument/2006/relationships/tags" Target="../tags/tag74.xml"/><Relationship Id="rId3" Type="http://schemas.openxmlformats.org/officeDocument/2006/relationships/image" Target="../media/image3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2.emf"/><Relationship Id="rId4" Type="http://schemas.openxmlformats.org/officeDocument/2006/relationships/tags" Target="../tags/tag77.xml"/><Relationship Id="rId3" Type="http://schemas.openxmlformats.org/officeDocument/2006/relationships/image" Target="../media/image3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image" Target="../media/image3.png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image" Target="../media/image3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image" Target="../media/image3.png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image" Target="../media/image3.png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image" Target="../media/image3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image" Target="../media/image3.png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4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image" Target="../media/image3.png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5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image" Target="../media/image3.png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6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image" Target="../media/image3.png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image" Target="../media/image3.png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emf"/><Relationship Id="rId8" Type="http://schemas.openxmlformats.org/officeDocument/2006/relationships/image" Target="../media/image34.emf"/><Relationship Id="rId7" Type="http://schemas.openxmlformats.org/officeDocument/2006/relationships/image" Target="../media/image33.emf"/><Relationship Id="rId6" Type="http://schemas.openxmlformats.org/officeDocument/2006/relationships/image" Target="../media/image32.emf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image" Target="../media/image3.png"/><Relationship Id="rId2" Type="http://schemas.openxmlformats.org/officeDocument/2006/relationships/tags" Target="../tags/tag125.xml"/><Relationship Id="rId14" Type="http://schemas.openxmlformats.org/officeDocument/2006/relationships/notesSlide" Target="../notesSlides/notesSlide28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38.emf"/><Relationship Id="rId11" Type="http://schemas.openxmlformats.org/officeDocument/2006/relationships/image" Target="../media/image37.emf"/><Relationship Id="rId10" Type="http://schemas.openxmlformats.org/officeDocument/2006/relationships/image" Target="../media/image36.emf"/><Relationship Id="rId1" Type="http://schemas.openxmlformats.org/officeDocument/2006/relationships/tags" Target="../tags/tag124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emf"/><Relationship Id="rId8" Type="http://schemas.openxmlformats.org/officeDocument/2006/relationships/image" Target="../media/image41.emf"/><Relationship Id="rId7" Type="http://schemas.openxmlformats.org/officeDocument/2006/relationships/image" Target="../media/image40.emf"/><Relationship Id="rId6" Type="http://schemas.openxmlformats.org/officeDocument/2006/relationships/image" Target="../media/image39.emf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image" Target="../media/image3.png"/><Relationship Id="rId2" Type="http://schemas.openxmlformats.org/officeDocument/2006/relationships/tags" Target="../tags/tag129.xml"/><Relationship Id="rId16" Type="http://schemas.openxmlformats.org/officeDocument/2006/relationships/notesSlide" Target="../notesSlides/notesSlide29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47.emf"/><Relationship Id="rId13" Type="http://schemas.openxmlformats.org/officeDocument/2006/relationships/image" Target="../media/image46.emf"/><Relationship Id="rId12" Type="http://schemas.openxmlformats.org/officeDocument/2006/relationships/image" Target="../media/image45.emf"/><Relationship Id="rId11" Type="http://schemas.openxmlformats.org/officeDocument/2006/relationships/image" Target="../media/image44.emf"/><Relationship Id="rId10" Type="http://schemas.openxmlformats.org/officeDocument/2006/relationships/image" Target="../media/image43.emf"/><Relationship Id="rId1" Type="http://schemas.openxmlformats.org/officeDocument/2006/relationships/tags" Target="../tags/tag128.xml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image" Target="../media/image3.png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1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image" Target="../media/image3.png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image" Target="../media/image3.png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3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image" Target="../media/image3.png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4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image" Target="../media/image3.png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image" Target="../media/image3.png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image" Target="../media/image3.png"/><Relationship Id="rId2" Type="http://schemas.openxmlformats.org/officeDocument/2006/relationships/tags" Target="../tags/tag159.xml"/><Relationship Id="rId19" Type="http://schemas.openxmlformats.org/officeDocument/2006/relationships/notesSlide" Target="../notesSlides/notesSlide36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73.xml"/><Relationship Id="rId16" Type="http://schemas.openxmlformats.org/officeDocument/2006/relationships/tags" Target="../tags/tag172.xml"/><Relationship Id="rId15" Type="http://schemas.openxmlformats.org/officeDocument/2006/relationships/tags" Target="../tags/tag171.xml"/><Relationship Id="rId14" Type="http://schemas.openxmlformats.org/officeDocument/2006/relationships/tags" Target="../tags/tag170.xml"/><Relationship Id="rId13" Type="http://schemas.openxmlformats.org/officeDocument/2006/relationships/tags" Target="../tags/tag169.xml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tags" Target="../tags/tag158.xml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76.xml"/><Relationship Id="rId3" Type="http://schemas.openxmlformats.org/officeDocument/2006/relationships/image" Target="../media/image3.png"/><Relationship Id="rId2" Type="http://schemas.openxmlformats.org/officeDocument/2006/relationships/tags" Target="../tags/tag175.xml"/><Relationship Id="rId1" Type="http://schemas.openxmlformats.org/officeDocument/2006/relationships/tags" Target="../tags/tag1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62"/>
            <a:ext cx="12231334" cy="6857999"/>
          </a:xfrm>
          <a:prstGeom prst="rect">
            <a:avLst/>
          </a:prstGeom>
        </p:spPr>
      </p:pic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4"/>
            </p:custDataLst>
          </p:nvPr>
        </p:nvSpPr>
        <p:spPr>
          <a:xfrm>
            <a:off x="1393190" y="6233795"/>
            <a:ext cx="9404985" cy="386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pc="100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NORTHWEST A&amp;F UNIVERSITY</a:t>
            </a:r>
            <a:endParaRPr lang="en-US" spc="100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174260" y="-96520"/>
            <a:ext cx="758124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0206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0"/>
            <a:ext cx="1221103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35000">
                      <a:srgbClr val="479F72">
                        <a:alpha val="90000"/>
                      </a:srgbClr>
                    </a:gs>
                    <a:gs pos="100000">
                      <a:srgbClr val="35823C">
                        <a:alpha val="0"/>
                      </a:srgbClr>
                    </a:gs>
                    <a:gs pos="0">
                      <a:srgbClr val="479F72"/>
                    </a:gs>
                  </a:gsLst>
                  <a:lin ang="0" scaled="1"/>
                </a:gra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-310" y="-10018"/>
            <a:ext cx="12211034" cy="6858000"/>
          </a:xfrm>
          <a:prstGeom prst="rect">
            <a:avLst/>
          </a:prstGeom>
          <a:gradFill>
            <a:gsLst>
              <a:gs pos="35000">
                <a:srgbClr val="479F72">
                  <a:alpha val="90000"/>
                </a:srgbClr>
              </a:gs>
              <a:gs pos="100000">
                <a:srgbClr val="35823C">
                  <a:alpha val="0"/>
                </a:srgbClr>
              </a:gs>
              <a:gs pos="0">
                <a:srgbClr val="479F72"/>
              </a:gs>
            </a:gsLst>
            <a:lin ang="0" scaled="1"/>
          </a:gradFill>
          <a:ln>
            <a:noFill/>
          </a:ln>
        </p:spPr>
        <p:style>
          <a:lnRef idx="2">
            <a:srgbClr val="86C131">
              <a:shade val="50000"/>
            </a:srgbClr>
          </a:lnRef>
          <a:fillRef idx="1">
            <a:srgbClr val="86C131"/>
          </a:fillRef>
          <a:effectRef idx="0">
            <a:srgbClr val="86C131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4815564" y="3967481"/>
            <a:ext cx="3480435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25000"/>
              </a:lnSpc>
            </a:pPr>
            <a:r>
              <a:rPr lang="zh-CN" altLang="en-US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汇报人：</a:t>
            </a:r>
            <a:endParaRPr lang="en-US" altLang="zh-CN" spc="200" dirty="0">
              <a:solidFill>
                <a:schemeClr val="bg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918993" y="1659037"/>
            <a:ext cx="10091777" cy="2027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25000"/>
              </a:lnSpc>
            </a:pPr>
            <a:r>
              <a:rPr lang="zh-CN" altLang="en-US" sz="5400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电脑零件进销存管理系统</a:t>
            </a:r>
            <a:endParaRPr lang="en-US" altLang="zh-CN" sz="5400" spc="200" dirty="0">
              <a:solidFill>
                <a:schemeClr val="bg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0" algn="ctr" fontAlgn="auto">
              <a:lnSpc>
                <a:spcPct val="125000"/>
              </a:lnSpc>
            </a:pPr>
            <a:r>
              <a:rPr lang="zh-CN" altLang="en-US" sz="5400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数据库设计</a:t>
            </a:r>
            <a:endParaRPr lang="zh-CN" altLang="en-US" sz="5400" spc="200" dirty="0">
              <a:solidFill>
                <a:schemeClr val="bg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7"/>
            </p:custDataLst>
          </p:nvPr>
        </p:nvSpPr>
        <p:spPr>
          <a:xfrm>
            <a:off x="4567279" y="4404996"/>
            <a:ext cx="385953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25000"/>
              </a:lnSpc>
            </a:pPr>
            <a:r>
              <a:rPr lang="zh-CN" altLang="en-US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指导老师：</a:t>
            </a:r>
            <a:endParaRPr lang="zh-CN" altLang="en-US" spc="200" dirty="0">
              <a:solidFill>
                <a:schemeClr val="bg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2363">
        <p159:morph option="byObject"/>
      </p:transition>
    </mc:Choice>
    <mc:Fallback>
      <p:transition spd="med" advTm="236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-635"/>
            <a:ext cx="12192000" cy="6858635"/>
          </a:xfrm>
          <a:prstGeom prst="rect">
            <a:avLst/>
          </a:prstGeom>
          <a:gradFill>
            <a:gsLst>
              <a:gs pos="1000">
                <a:schemeClr val="accent6">
                  <a:lumMod val="20000"/>
                  <a:lumOff val="80000"/>
                  <a:alpha val="31000"/>
                </a:schemeClr>
              </a:gs>
              <a:gs pos="27000">
                <a:srgbClr val="7EAC8D">
                  <a:alpha val="66000"/>
                </a:srgbClr>
              </a:gs>
              <a:gs pos="70000">
                <a:srgbClr val="1A6840">
                  <a:alpha val="6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850265" y="2573020"/>
            <a:ext cx="235966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spc="1200">
                <a:solidFill>
                  <a:srgbClr val="2E461C"/>
                </a:solidFill>
                <a:uFillTx/>
                <a:latin typeface="华文中宋" panose="02010600040101010101" charset="-122"/>
                <a:ea typeface="华文中宋" panose="02010600040101010101" charset="-122"/>
              </a:rPr>
              <a:t>目录</a:t>
            </a:r>
            <a:endParaRPr lang="zh-CN" altLang="en-US" sz="6600" b="1" spc="1200">
              <a:solidFill>
                <a:srgbClr val="2E461C"/>
              </a:solidFill>
              <a:uFillTx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2"/>
            </p:custDataLst>
          </p:nvPr>
        </p:nvSpPr>
        <p:spPr>
          <a:xfrm>
            <a:off x="3766878" y="412865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3"/>
            </p:custDataLst>
          </p:nvPr>
        </p:nvSpPr>
        <p:spPr>
          <a:xfrm>
            <a:off x="3766878" y="412865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4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949248" y="1445995"/>
            <a:ext cx="54013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概念结构设计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" name="圆角矩形 21"/>
          <p:cNvSpPr/>
          <p:nvPr>
            <p:custDataLst>
              <p:tags r:id="rId5"/>
            </p:custDataLst>
          </p:nvPr>
        </p:nvSpPr>
        <p:spPr>
          <a:xfrm>
            <a:off x="3777038" y="2436221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6"/>
            </p:custDataLst>
          </p:nvPr>
        </p:nvSpPr>
        <p:spPr>
          <a:xfrm>
            <a:off x="3771958" y="2411456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4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6" name="圆角矩形 25"/>
          <p:cNvSpPr/>
          <p:nvPr>
            <p:custDataLst>
              <p:tags r:id="rId7"/>
            </p:custDataLst>
          </p:nvPr>
        </p:nvSpPr>
        <p:spPr>
          <a:xfrm>
            <a:off x="3764973" y="1399005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3764973" y="1360270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440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4954328" y="2483211"/>
            <a:ext cx="41116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逻辑结构设计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12"/>
            </p:custDataLst>
          </p:nvPr>
        </p:nvSpPr>
        <p:spPr>
          <a:xfrm>
            <a:off x="4911785" y="438582"/>
            <a:ext cx="54013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需求分析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圆角矩形 17"/>
          <p:cNvSpPr/>
          <p:nvPr>
            <p:custDataLst>
              <p:tags r:id="rId13"/>
            </p:custDataLst>
          </p:nvPr>
        </p:nvSpPr>
        <p:spPr>
          <a:xfrm>
            <a:off x="3773863" y="3474964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4"/>
            </p:custDataLst>
          </p:nvPr>
        </p:nvSpPr>
        <p:spPr>
          <a:xfrm>
            <a:off x="3773863" y="3474964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4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4956233" y="4508094"/>
            <a:ext cx="54013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数据库实施与测试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0" name="圆角矩形 21"/>
          <p:cNvSpPr/>
          <p:nvPr>
            <p:custDataLst>
              <p:tags r:id="rId16"/>
            </p:custDataLst>
          </p:nvPr>
        </p:nvSpPr>
        <p:spPr>
          <a:xfrm>
            <a:off x="3784023" y="5498320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7"/>
            </p:custDataLst>
          </p:nvPr>
        </p:nvSpPr>
        <p:spPr>
          <a:xfrm>
            <a:off x="3778943" y="5473555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6</a:t>
            </a:r>
            <a:endParaRPr lang="en-US" altLang="zh-CN" sz="4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" name="圆角矩形 25"/>
          <p:cNvSpPr/>
          <p:nvPr>
            <p:custDataLst>
              <p:tags r:id="rId18"/>
            </p:custDataLst>
          </p:nvPr>
        </p:nvSpPr>
        <p:spPr>
          <a:xfrm>
            <a:off x="3771958" y="4461104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9"/>
            </p:custDataLst>
          </p:nvPr>
        </p:nvSpPr>
        <p:spPr>
          <a:xfrm>
            <a:off x="3771958" y="4422369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5</a:t>
            </a:r>
            <a:endParaRPr lang="en-US" altLang="zh-CN" sz="4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20"/>
            </p:custDataLst>
          </p:nvPr>
        </p:nvSpPr>
        <p:spPr>
          <a:xfrm>
            <a:off x="4961313" y="5545310"/>
            <a:ext cx="41116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总结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4918770" y="3500681"/>
            <a:ext cx="54013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物理结构设计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19">
        <p159:morph option="byObject"/>
      </p:transition>
    </mc:Choice>
    <mc:Fallback>
      <p:transition spd="med" advTm="419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77690" y="2518410"/>
            <a:ext cx="4565650" cy="103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5000"/>
              </a:lnSpc>
            </a:pPr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需求分析</a:t>
            </a: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8000" b="1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578">
        <p159:morph option="byObject"/>
      </p:transition>
    </mc:Choice>
    <mc:Fallback>
      <p:transition spd="med" advTm="1578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需求分析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2508019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25830"/>
            <a:ext cx="2817264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顶层数据流程图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67690" y="4782435"/>
            <a:ext cx="10866755" cy="2574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主要展示系统与外界的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交互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。系统向供应商发出电脑零件的采购单，并接收发货单；系统接收顾客发出的电脑零件的订购单，并发出销售单，同时接收顾客发出的售后服务单，并发出反馈单；系统接收市场发出的电脑零件相关信息。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181" y="1564503"/>
            <a:ext cx="5285509" cy="3141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5214">
        <p159:morph option="byObject"/>
      </p:transition>
    </mc:Choice>
    <mc:Fallback>
      <p:transition spd="med" advTm="5214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需求分析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2916728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25830"/>
            <a:ext cx="3108210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第二层数据流程图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54726" y="5629869"/>
            <a:ext cx="10866755" cy="2574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主要展示了电脑零件进销存系统的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内部构成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，由采购、仓储、销售、库存协调和市场调研组成，以及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它们之间的关系</a:t>
            </a:r>
            <a:endParaRPr lang="en-US" altLang="zh-CN" sz="2400" dirty="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472" y="1033381"/>
            <a:ext cx="6528966" cy="4598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5214">
        <p159:morph option="byObject"/>
      </p:transition>
    </mc:Choice>
    <mc:Fallback>
      <p:transition spd="med" advTm="5214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需求分析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3761855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25830"/>
            <a:ext cx="3842500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采购部分的数据流程图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62622" y="5340985"/>
            <a:ext cx="10866755" cy="2574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采购的主要功能为通过采购需求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生成电脑零件采购单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，并处理供应商发出的发货单，在核验后生成相应的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进货记录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，最后进行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入库操作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，更新库存记录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23"/>
          <a:stretch>
            <a:fillRect/>
          </a:stretch>
        </p:blipFill>
        <p:spPr bwMode="auto">
          <a:xfrm>
            <a:off x="2715198" y="1356200"/>
            <a:ext cx="6428802" cy="3806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5214">
        <p159:morph option="byObject"/>
      </p:transition>
    </mc:Choice>
    <mc:Fallback>
      <p:transition spd="med" advTm="5214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需求分析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3567892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25830"/>
            <a:ext cx="3849428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采购部分的数据流程图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62622" y="5251747"/>
            <a:ext cx="10866755" cy="2574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仓储的主要功能是对库存中的电脑零件进行管理，通过将逻辑上的库存记录与实际检查生成的实物清单相对比，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更新库存中的信息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生成报损单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，并根据报损与库存协调提供的信息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更新采购需求</a:t>
            </a:r>
            <a:endParaRPr lang="en-US" altLang="zh-CN" sz="2400" dirty="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020" y="1450074"/>
            <a:ext cx="6304980" cy="3890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5214">
        <p159:morph option="byObject"/>
      </p:transition>
    </mc:Choice>
    <mc:Fallback>
      <p:transition spd="med" advTm="5214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需求分析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3560965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25830"/>
            <a:ext cx="3828646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销售部分的数据流程图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62622" y="5313769"/>
            <a:ext cx="10866755" cy="2574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销售的主要功能是根据电脑零件信息，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分析顾客的需求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生成对应的销售单与电脑零件清单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，更新销售记录。同时，销售也负责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处理和记录来自顾客的售后服务单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并提供相应的反馈单，并根据售后服务的处理情况更新库存记录。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829" y="1363154"/>
            <a:ext cx="5728339" cy="3874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5214">
        <p159:morph option="byObject"/>
      </p:transition>
    </mc:Choice>
    <mc:Fallback>
      <p:transition spd="med" advTm="5214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需求分析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4281401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4" y="925830"/>
            <a:ext cx="4500591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库存协调部分的数据流程图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49393" y="5251747"/>
            <a:ext cx="10866755" cy="2574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库存协调的主要功能是根据销售部分的需求与库存中的信息，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生成符合要求库存内零件清单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，并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生成出库单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，以和销售部分相符合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471" y="1692359"/>
            <a:ext cx="7301513" cy="3483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5214">
        <p159:morph option="byObject"/>
      </p:transition>
    </mc:Choice>
    <mc:Fallback>
      <p:transition spd="med" advTm="5214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需求分析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4413019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25830"/>
            <a:ext cx="4493664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市场预测部分的数据流程图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62621" y="5251747"/>
            <a:ext cx="10866755" cy="2574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市场调研的主要功能是对销售记录与来自市场的信息进行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整合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并通过处理后的信息进行预测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，将预测信息转化为与采购需求对应的形式后，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对采购需其进行更新</a:t>
            </a:r>
            <a:endParaRPr lang="en-US" altLang="zh-CN" sz="2400" dirty="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637" y="2033989"/>
            <a:ext cx="9534894" cy="3217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5214">
        <p159:morph option="byObject"/>
      </p:transition>
    </mc:Choice>
    <mc:Fallback>
      <p:transition spd="med" advTm="5214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需求分析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1371946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25830"/>
            <a:ext cx="1715828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数据字典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7045" y="2302528"/>
            <a:ext cx="2196292" cy="2574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在数据字典中，包含了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48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个数据项，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24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个数据结构，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28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个数据流，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16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个处理逻辑，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9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个数据存储</a:t>
            </a:r>
            <a:endParaRPr lang="en-US" altLang="zh-CN" sz="2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8091" y="1428326"/>
            <a:ext cx="1852378" cy="34888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5272" y="1440815"/>
            <a:ext cx="1869199" cy="45554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7709" y="1440815"/>
            <a:ext cx="730043" cy="45554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0484" y="1422134"/>
            <a:ext cx="1923008" cy="44692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9384" y="1422134"/>
            <a:ext cx="859414" cy="48973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5214">
        <p159:morph option="byObject"/>
      </p:transition>
    </mc:Choice>
    <mc:Fallback>
      <p:transition spd="med" advTm="5214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需求分析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2861310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25830"/>
            <a:ext cx="3059719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对电脑零件的分析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62621" y="5251747"/>
            <a:ext cx="10866755" cy="2574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将电脑零件抽象为中央处理器，主板，内存，固态硬盘，电源和整机六类，而整机由其余的电脑零件组成。顾客在订购时，既可以购买零部件，也可以购买整机；既可以指定具体的电脑零件，也可以仅提出性能上的要求。</a:t>
            </a:r>
            <a:endParaRPr lang="en-US" altLang="zh-CN" sz="2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957" y="1884959"/>
            <a:ext cx="10153386" cy="29502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5214">
        <p159:morph option="byObject"/>
      </p:transition>
    </mc:Choice>
    <mc:Fallback>
      <p:transition spd="med" advTm="5214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需求分析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4413019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25830"/>
            <a:ext cx="4493664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对电脑零件库存状态的规定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62621" y="5251747"/>
            <a:ext cx="10866755" cy="2574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对库存状态进行规定，有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normal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waiting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 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purchase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和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outbound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四种取值。通过对库存状态的转化，可实现各个部分的交互与沟通，规划了后期数据库的实施的思路</a:t>
            </a:r>
            <a:endParaRPr lang="en-US" altLang="zh-CN" sz="2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3622963" y="3805442"/>
            <a:ext cx="1614055" cy="7619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normal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5676897" y="1991851"/>
            <a:ext cx="1614055" cy="7619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waiting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8162325" y="3811041"/>
            <a:ext cx="1614055" cy="7619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purchasing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487045" y="3822360"/>
            <a:ext cx="1614055" cy="7619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outbound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374717" y="1907689"/>
            <a:ext cx="1614055" cy="761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采购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53945" y="1210973"/>
            <a:ext cx="1614055" cy="761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库存协调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0" name="任意多边形: 形状 29"/>
          <p:cNvSpPr/>
          <p:nvPr/>
        </p:nvSpPr>
        <p:spPr>
          <a:xfrm>
            <a:off x="2098964" y="3906699"/>
            <a:ext cx="1524000" cy="277374"/>
          </a:xfrm>
          <a:custGeom>
            <a:avLst/>
            <a:gdLst>
              <a:gd name="connsiteX0" fmla="*/ 0 w 1524000"/>
              <a:gd name="connsiteY0" fmla="*/ 277374 h 277374"/>
              <a:gd name="connsiteX1" fmla="*/ 692727 w 1524000"/>
              <a:gd name="connsiteY1" fmla="*/ 283 h 277374"/>
              <a:gd name="connsiteX2" fmla="*/ 1524000 w 1524000"/>
              <a:gd name="connsiteY2" fmla="*/ 235810 h 277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00" h="277374">
                <a:moveTo>
                  <a:pt x="0" y="277374"/>
                </a:moveTo>
                <a:cubicBezTo>
                  <a:pt x="219363" y="142292"/>
                  <a:pt x="438727" y="7210"/>
                  <a:pt x="692727" y="283"/>
                </a:cubicBezTo>
                <a:cubicBezTo>
                  <a:pt x="946727" y="-6644"/>
                  <a:pt x="1235363" y="114583"/>
                  <a:pt x="1524000" y="23581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: 形状 30"/>
          <p:cNvSpPr/>
          <p:nvPr/>
        </p:nvSpPr>
        <p:spPr>
          <a:xfrm rot="10800000">
            <a:off x="2085107" y="4184073"/>
            <a:ext cx="1524000" cy="277374"/>
          </a:xfrm>
          <a:custGeom>
            <a:avLst/>
            <a:gdLst>
              <a:gd name="connsiteX0" fmla="*/ 0 w 1524000"/>
              <a:gd name="connsiteY0" fmla="*/ 277374 h 277374"/>
              <a:gd name="connsiteX1" fmla="*/ 692727 w 1524000"/>
              <a:gd name="connsiteY1" fmla="*/ 283 h 277374"/>
              <a:gd name="connsiteX2" fmla="*/ 1524000 w 1524000"/>
              <a:gd name="connsiteY2" fmla="*/ 235810 h 277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00" h="277374">
                <a:moveTo>
                  <a:pt x="0" y="277374"/>
                </a:moveTo>
                <a:cubicBezTo>
                  <a:pt x="219363" y="142292"/>
                  <a:pt x="438727" y="7210"/>
                  <a:pt x="692727" y="283"/>
                </a:cubicBezTo>
                <a:cubicBezTo>
                  <a:pt x="946727" y="-6644"/>
                  <a:pt x="1235363" y="114583"/>
                  <a:pt x="1524000" y="23581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箭头连接符 32"/>
          <p:cNvCxnSpPr/>
          <p:nvPr/>
        </p:nvCxnSpPr>
        <p:spPr>
          <a:xfrm>
            <a:off x="2988772" y="2669688"/>
            <a:ext cx="1029046" cy="1135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5" idx="1"/>
          </p:cNvCxnSpPr>
          <p:nvPr/>
        </p:nvCxnSpPr>
        <p:spPr>
          <a:xfrm flipH="1">
            <a:off x="7218218" y="1591973"/>
            <a:ext cx="1835727" cy="4236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12" idx="1"/>
            <a:endCxn id="9" idx="3"/>
          </p:cNvCxnSpPr>
          <p:nvPr/>
        </p:nvCxnSpPr>
        <p:spPr>
          <a:xfrm flipH="1" flipV="1">
            <a:off x="5237018" y="4186442"/>
            <a:ext cx="2925307" cy="55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任意多边形: 形状 45"/>
          <p:cNvSpPr/>
          <p:nvPr/>
        </p:nvSpPr>
        <p:spPr>
          <a:xfrm rot="2899910">
            <a:off x="7071762" y="2975969"/>
            <a:ext cx="1796428" cy="209701"/>
          </a:xfrm>
          <a:custGeom>
            <a:avLst/>
            <a:gdLst>
              <a:gd name="connsiteX0" fmla="*/ 0 w 1524000"/>
              <a:gd name="connsiteY0" fmla="*/ 277374 h 277374"/>
              <a:gd name="connsiteX1" fmla="*/ 692727 w 1524000"/>
              <a:gd name="connsiteY1" fmla="*/ 283 h 277374"/>
              <a:gd name="connsiteX2" fmla="*/ 1524000 w 1524000"/>
              <a:gd name="connsiteY2" fmla="*/ 235810 h 277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00" h="277374">
                <a:moveTo>
                  <a:pt x="0" y="277374"/>
                </a:moveTo>
                <a:cubicBezTo>
                  <a:pt x="219363" y="142292"/>
                  <a:pt x="438727" y="7210"/>
                  <a:pt x="692727" y="283"/>
                </a:cubicBezTo>
                <a:cubicBezTo>
                  <a:pt x="946727" y="-6644"/>
                  <a:pt x="1235363" y="114583"/>
                  <a:pt x="1524000" y="23581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/>
          <p:cNvSpPr/>
          <p:nvPr/>
        </p:nvSpPr>
        <p:spPr>
          <a:xfrm rot="13781928">
            <a:off x="6747882" y="3296733"/>
            <a:ext cx="1654553" cy="190970"/>
          </a:xfrm>
          <a:custGeom>
            <a:avLst/>
            <a:gdLst>
              <a:gd name="connsiteX0" fmla="*/ 0 w 1524000"/>
              <a:gd name="connsiteY0" fmla="*/ 277374 h 277374"/>
              <a:gd name="connsiteX1" fmla="*/ 692727 w 1524000"/>
              <a:gd name="connsiteY1" fmla="*/ 283 h 277374"/>
              <a:gd name="connsiteX2" fmla="*/ 1524000 w 1524000"/>
              <a:gd name="connsiteY2" fmla="*/ 235810 h 277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00" h="277374">
                <a:moveTo>
                  <a:pt x="0" y="277374"/>
                </a:moveTo>
                <a:cubicBezTo>
                  <a:pt x="219363" y="142292"/>
                  <a:pt x="438727" y="7210"/>
                  <a:pt x="692727" y="283"/>
                </a:cubicBezTo>
                <a:cubicBezTo>
                  <a:pt x="946727" y="-6644"/>
                  <a:pt x="1235363" y="114583"/>
                  <a:pt x="1524000" y="23581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2966763" y="2314369"/>
            <a:ext cx="1124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正常</a:t>
            </a:r>
            <a:endParaRPr lang="en-US" altLang="zh-CN" dirty="0"/>
          </a:p>
          <a:p>
            <a:pPr algn="ctr"/>
            <a:r>
              <a:rPr lang="zh-CN" altLang="en-US" dirty="0"/>
              <a:t>入库</a:t>
            </a:r>
            <a:endParaRPr lang="zh-CN" altLang="en-US" dirty="0"/>
          </a:p>
        </p:txBody>
      </p:sp>
      <p:sp>
        <p:nvSpPr>
          <p:cNvPr id="51" name="文本框 50"/>
          <p:cNvSpPr txBox="1"/>
          <p:nvPr/>
        </p:nvSpPr>
        <p:spPr>
          <a:xfrm>
            <a:off x="7181314" y="1151350"/>
            <a:ext cx="1350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存在需求但库存不足</a:t>
            </a:r>
            <a:endParaRPr lang="zh-CN" altLang="en-US" dirty="0"/>
          </a:p>
        </p:txBody>
      </p:sp>
      <p:sp>
        <p:nvSpPr>
          <p:cNvPr id="52" name="文本框 51"/>
          <p:cNvSpPr txBox="1"/>
          <p:nvPr/>
        </p:nvSpPr>
        <p:spPr>
          <a:xfrm>
            <a:off x="8397852" y="2805930"/>
            <a:ext cx="981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进入采购需求</a:t>
            </a:r>
            <a:endParaRPr lang="zh-CN" altLang="en-US" dirty="0"/>
          </a:p>
        </p:txBody>
      </p:sp>
      <p:sp>
        <p:nvSpPr>
          <p:cNvPr id="53" name="文本框 52"/>
          <p:cNvSpPr txBox="1"/>
          <p:nvPr/>
        </p:nvSpPr>
        <p:spPr>
          <a:xfrm>
            <a:off x="6526185" y="3225936"/>
            <a:ext cx="981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采购</a:t>
            </a:r>
            <a:endParaRPr lang="en-US" altLang="zh-CN" dirty="0"/>
          </a:p>
          <a:p>
            <a:pPr algn="ctr"/>
            <a:r>
              <a:rPr lang="zh-CN" altLang="en-US" dirty="0"/>
              <a:t>失败</a:t>
            </a:r>
            <a:endParaRPr lang="zh-CN" altLang="en-US" dirty="0"/>
          </a:p>
        </p:txBody>
      </p:sp>
      <p:sp>
        <p:nvSpPr>
          <p:cNvPr id="54" name="文本框 53"/>
          <p:cNvSpPr txBox="1"/>
          <p:nvPr/>
        </p:nvSpPr>
        <p:spPr>
          <a:xfrm>
            <a:off x="6334318" y="4271722"/>
            <a:ext cx="730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采购成功</a:t>
            </a:r>
            <a:endParaRPr lang="zh-CN" altLang="en-US" dirty="0"/>
          </a:p>
        </p:txBody>
      </p:sp>
      <p:sp>
        <p:nvSpPr>
          <p:cNvPr id="55" name="文本框 54"/>
          <p:cNvSpPr txBox="1"/>
          <p:nvPr/>
        </p:nvSpPr>
        <p:spPr>
          <a:xfrm>
            <a:off x="4244256" y="2382315"/>
            <a:ext cx="1126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因意外不在库中</a:t>
            </a:r>
            <a:endParaRPr lang="zh-CN" altLang="en-US" dirty="0"/>
          </a:p>
        </p:txBody>
      </p:sp>
      <p:cxnSp>
        <p:nvCxnSpPr>
          <p:cNvPr id="56" name="直接箭头连接符 55"/>
          <p:cNvCxnSpPr>
            <a:stCxn id="9" idx="0"/>
            <a:endCxn id="10" idx="1"/>
          </p:cNvCxnSpPr>
          <p:nvPr/>
        </p:nvCxnSpPr>
        <p:spPr>
          <a:xfrm flipV="1">
            <a:off x="4429991" y="2372851"/>
            <a:ext cx="1246906" cy="14325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2298644" y="4533431"/>
            <a:ext cx="1126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售出后协调出库</a:t>
            </a:r>
            <a:endParaRPr lang="zh-CN" altLang="en-US" dirty="0"/>
          </a:p>
        </p:txBody>
      </p:sp>
      <p:sp>
        <p:nvSpPr>
          <p:cNvPr id="60" name="文本框 59"/>
          <p:cNvSpPr txBox="1"/>
          <p:nvPr/>
        </p:nvSpPr>
        <p:spPr>
          <a:xfrm>
            <a:off x="2239370" y="3276033"/>
            <a:ext cx="1126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售出后被退货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5214">
        <p159:morph option="byObject"/>
      </p:transition>
    </mc:Choice>
    <mc:Fallback>
      <p:transition spd="med" advTm="5214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77690" y="2518410"/>
            <a:ext cx="6271260" cy="2074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5000"/>
              </a:lnSpc>
            </a:pPr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概念结构设计</a:t>
            </a: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indent="0" fontAlgn="auto">
              <a:lnSpc>
                <a:spcPct val="125000"/>
              </a:lnSpc>
            </a:pP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8000" b="1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2514">
        <p159:morph option="byObject"/>
      </p:transition>
    </mc:Choice>
    <mc:Fallback>
      <p:transition spd="med" advTm="2514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 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概念结构设计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81872" y="1641143"/>
            <a:ext cx="2767753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1024796"/>
            <a:ext cx="2996547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采购部分的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E-R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图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238" y="1682842"/>
            <a:ext cx="8419521" cy="38824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662622" y="5606981"/>
            <a:ext cx="10866755" cy="2574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销售部分的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E-R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图主要涉及的实体有供应采购需求，采购单，采购细则，入库单，入库细则和库存记录</a:t>
            </a:r>
            <a:endParaRPr lang="en-US" altLang="zh-CN" sz="2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4222">
        <p159:morph option="byObject"/>
      </p:transition>
    </mc:Choice>
    <mc:Fallback>
      <p:transition spd="med" advTm="14222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 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概念结构设计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81872" y="1641143"/>
            <a:ext cx="2767753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1024796"/>
            <a:ext cx="2996547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仓储部分的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E-R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图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9393" y="5676254"/>
            <a:ext cx="10866755" cy="2574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仓储部分的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E-R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主要涉及的实体有电脑零件，库存记录，报损单，报损细则，账实对比单，账实对比细则，盘点清单，盘点细则和采购需求</a:t>
            </a:r>
            <a:endParaRPr lang="en-US" altLang="zh-CN" sz="2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926" y="1782597"/>
            <a:ext cx="8249605" cy="381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4222">
        <p159:morph option="byObject"/>
      </p:transition>
    </mc:Choice>
    <mc:Fallback>
      <p:transition spd="med" advTm="14222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 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概念结构设计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81872" y="1641143"/>
            <a:ext cx="2767753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1024796"/>
            <a:ext cx="2996547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销售部分的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E-R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图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2622" y="5606981"/>
            <a:ext cx="10866755" cy="2574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销售部分的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E-R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图主要包含的实体有顾客，销售单，销售细则，售后服务处理记录，退货单，退货细则</a:t>
            </a:r>
            <a:endParaRPr lang="en-US" altLang="zh-CN" sz="2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920" y="2068947"/>
            <a:ext cx="9446543" cy="3022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4222">
        <p159:morph option="byObject"/>
      </p:transition>
    </mc:Choice>
    <mc:Fallback>
      <p:transition spd="med" advTm="14222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 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概念结构设计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81872" y="1641143"/>
            <a:ext cx="3491364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1024796"/>
            <a:ext cx="3690100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库存协调部分的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E-R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图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2622" y="5606981"/>
            <a:ext cx="10866755" cy="2574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库存协调部分的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E-R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图主要包含的实体有销售单，出库单，出库细则，电脑零件，库存记录</a:t>
            </a:r>
            <a:endParaRPr lang="en-US" altLang="zh-CN" sz="2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318" y="2203247"/>
            <a:ext cx="7248044" cy="2719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4222">
        <p159:morph option="byObject"/>
      </p:transition>
    </mc:Choice>
    <mc:Fallback>
      <p:transition spd="med" advTm="14222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 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概念结构设计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81872" y="1641143"/>
            <a:ext cx="3512146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1024796"/>
            <a:ext cx="3877137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市场预测部分的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E-R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图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2622" y="5606981"/>
            <a:ext cx="10866755" cy="2574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市场预测部分的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E-R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图主要包含的实体有电脑零件，市场信息，销售记录，预测信息和采购需求</a:t>
            </a:r>
            <a:endParaRPr lang="en-US" altLang="zh-CN" sz="2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568" y="2602263"/>
            <a:ext cx="10098406" cy="1772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4222">
        <p159:morph option="byObject"/>
      </p:transition>
    </mc:Choice>
    <mc:Fallback>
      <p:transition spd="med" advTm="14222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 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概念结构设计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66236" y="1641143"/>
            <a:ext cx="1323128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1409" y="1024796"/>
            <a:ext cx="1604991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总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E-R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图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2622" y="6260696"/>
            <a:ext cx="10866755" cy="2574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以电脑零件为核心，逐渐加入各个分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E-R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图，并删去多次出现的实体与关系</a:t>
            </a:r>
            <a:endParaRPr lang="en-US" altLang="zh-CN" sz="2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429" y="1130879"/>
            <a:ext cx="8056684" cy="5077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4222">
        <p159:morph option="byObject"/>
      </p:transition>
    </mc:Choice>
    <mc:Fallback>
      <p:transition spd="med" advTm="14222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7365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77690" y="2518410"/>
            <a:ext cx="5050327" cy="2074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5000"/>
              </a:lnSpc>
            </a:pPr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逻辑结构设计</a:t>
            </a: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indent="0" fontAlgn="auto">
              <a:lnSpc>
                <a:spcPct val="125000"/>
              </a:lnSpc>
            </a:pPr>
            <a:endParaRPr lang="zh-CN" altLang="en-US" sz="5400" spc="200" dirty="0">
              <a:solidFill>
                <a:srgbClr val="2E461C"/>
              </a:solidFill>
              <a:uFillTx/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8000" b="1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553">
        <p159:morph option="byObject"/>
      </p:transition>
    </mc:Choice>
    <mc:Fallback>
      <p:transition spd="med" advTm="1553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5" y="1075055"/>
            <a:ext cx="292659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主要目标与方法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87045" y="1822450"/>
            <a:ext cx="11045825" cy="1251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4947218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3.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rPr>
              <a:t>逻辑结构设计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3245" y="1597025"/>
            <a:ext cx="258173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72949" y="2448242"/>
            <a:ext cx="11419643" cy="1682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将电脑零件进销存的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E-R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模型转化为关系模式，定义完整的表结构，建立合理的主外键关系，并且设计必要的约束条件。在转化过程中，通过范式（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3NF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）来规范关系模式。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3NF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要求关系模式满足原子性，不存在部分函数依赖与传递函数依赖。以此为标准，进行关系模式的规范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844">
        <p159:morph option="byObject"/>
      </p:transition>
    </mc:Choice>
    <mc:Fallback>
      <p:transition spd="med" advTm="45844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5" y="1075055"/>
            <a:ext cx="292659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具体关系模式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87045" y="1822450"/>
            <a:ext cx="11045825" cy="1251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4947218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3.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rPr>
              <a:t>逻辑结构设计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50281" y="1598275"/>
            <a:ext cx="2422410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40055" y="2121495"/>
            <a:ext cx="11419643" cy="3307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第一类，负责基础信息的储存，结构较为简单，其中的信息主要目的是进行相关的处理和参照：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lvl="1" algn="just">
              <a:lnSpc>
                <a:spcPct val="120000"/>
              </a:lnSpc>
            </a:pP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顾客（</a:t>
            </a:r>
            <a:r>
              <a:rPr kumimoji="1" lang="zh-CN" altLang="en-US" sz="2200" u="sng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顾客编号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，顾客姓名，顾客地址，顾客电话）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lvl="1" algn="just">
              <a:lnSpc>
                <a:spcPct val="120000"/>
              </a:lnSpc>
            </a:pP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供应商（</a:t>
            </a:r>
            <a:r>
              <a:rPr kumimoji="1" lang="zh-CN" altLang="en-US" sz="2200" u="sng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供应商编号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，供应商名称，供应商地址，供应商电话）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电脑零件（</a:t>
            </a:r>
            <a:r>
              <a:rPr kumimoji="1" lang="zh-CN" altLang="en-US" sz="2200" u="sng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电脑零件编号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，电脑零件类型，电脑零件名称，购入单价，售出单价，接口类型，功耗，供应商编号）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2272145" y="4551042"/>
            <a:ext cx="1371600" cy="69465"/>
          </a:xfrm>
          <a:custGeom>
            <a:avLst/>
            <a:gdLst>
              <a:gd name="connsiteX0" fmla="*/ 0 w 1371600"/>
              <a:gd name="connsiteY0" fmla="*/ 7103 h 69465"/>
              <a:gd name="connsiteX1" fmla="*/ 110837 w 1371600"/>
              <a:gd name="connsiteY1" fmla="*/ 62522 h 69465"/>
              <a:gd name="connsiteX2" fmla="*/ 187037 w 1371600"/>
              <a:gd name="connsiteY2" fmla="*/ 7103 h 69465"/>
              <a:gd name="connsiteX3" fmla="*/ 290946 w 1371600"/>
              <a:gd name="connsiteY3" fmla="*/ 55594 h 69465"/>
              <a:gd name="connsiteX4" fmla="*/ 394855 w 1371600"/>
              <a:gd name="connsiteY4" fmla="*/ 7103 h 69465"/>
              <a:gd name="connsiteX5" fmla="*/ 498764 w 1371600"/>
              <a:gd name="connsiteY5" fmla="*/ 55594 h 69465"/>
              <a:gd name="connsiteX6" fmla="*/ 588819 w 1371600"/>
              <a:gd name="connsiteY6" fmla="*/ 176 h 69465"/>
              <a:gd name="connsiteX7" fmla="*/ 706582 w 1371600"/>
              <a:gd name="connsiteY7" fmla="*/ 69449 h 69465"/>
              <a:gd name="connsiteX8" fmla="*/ 782782 w 1371600"/>
              <a:gd name="connsiteY8" fmla="*/ 7103 h 69465"/>
              <a:gd name="connsiteX9" fmla="*/ 893619 w 1371600"/>
              <a:gd name="connsiteY9" fmla="*/ 48667 h 69465"/>
              <a:gd name="connsiteX10" fmla="*/ 969819 w 1371600"/>
              <a:gd name="connsiteY10" fmla="*/ 7103 h 69465"/>
              <a:gd name="connsiteX11" fmla="*/ 1046019 w 1371600"/>
              <a:gd name="connsiteY11" fmla="*/ 69449 h 69465"/>
              <a:gd name="connsiteX12" fmla="*/ 1163782 w 1371600"/>
              <a:gd name="connsiteY12" fmla="*/ 176 h 69465"/>
              <a:gd name="connsiteX13" fmla="*/ 1246910 w 1371600"/>
              <a:gd name="connsiteY13" fmla="*/ 48667 h 69465"/>
              <a:gd name="connsiteX14" fmla="*/ 1371600 w 1371600"/>
              <a:gd name="connsiteY14" fmla="*/ 20958 h 69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71600" h="69465">
                <a:moveTo>
                  <a:pt x="0" y="7103"/>
                </a:moveTo>
                <a:cubicBezTo>
                  <a:pt x="39832" y="34812"/>
                  <a:pt x="79664" y="62522"/>
                  <a:pt x="110837" y="62522"/>
                </a:cubicBezTo>
                <a:cubicBezTo>
                  <a:pt x="142010" y="62522"/>
                  <a:pt x="157019" y="8258"/>
                  <a:pt x="187037" y="7103"/>
                </a:cubicBezTo>
                <a:cubicBezTo>
                  <a:pt x="217055" y="5948"/>
                  <a:pt x="256310" y="55594"/>
                  <a:pt x="290946" y="55594"/>
                </a:cubicBezTo>
                <a:cubicBezTo>
                  <a:pt x="325582" y="55594"/>
                  <a:pt x="360219" y="7103"/>
                  <a:pt x="394855" y="7103"/>
                </a:cubicBezTo>
                <a:cubicBezTo>
                  <a:pt x="429491" y="7103"/>
                  <a:pt x="466437" y="56748"/>
                  <a:pt x="498764" y="55594"/>
                </a:cubicBezTo>
                <a:cubicBezTo>
                  <a:pt x="531091" y="54440"/>
                  <a:pt x="554183" y="-2133"/>
                  <a:pt x="588819" y="176"/>
                </a:cubicBezTo>
                <a:cubicBezTo>
                  <a:pt x="623455" y="2485"/>
                  <a:pt x="674255" y="68295"/>
                  <a:pt x="706582" y="69449"/>
                </a:cubicBezTo>
                <a:cubicBezTo>
                  <a:pt x="738909" y="70603"/>
                  <a:pt x="751609" y="10567"/>
                  <a:pt x="782782" y="7103"/>
                </a:cubicBezTo>
                <a:cubicBezTo>
                  <a:pt x="813955" y="3639"/>
                  <a:pt x="862446" y="48667"/>
                  <a:pt x="893619" y="48667"/>
                </a:cubicBezTo>
                <a:cubicBezTo>
                  <a:pt x="924792" y="48667"/>
                  <a:pt x="944419" y="3639"/>
                  <a:pt x="969819" y="7103"/>
                </a:cubicBezTo>
                <a:cubicBezTo>
                  <a:pt x="995219" y="10567"/>
                  <a:pt x="1013692" y="70603"/>
                  <a:pt x="1046019" y="69449"/>
                </a:cubicBezTo>
                <a:cubicBezTo>
                  <a:pt x="1078346" y="68295"/>
                  <a:pt x="1130300" y="3640"/>
                  <a:pt x="1163782" y="176"/>
                </a:cubicBezTo>
                <a:cubicBezTo>
                  <a:pt x="1197264" y="-3288"/>
                  <a:pt x="1212274" y="45203"/>
                  <a:pt x="1246910" y="48667"/>
                </a:cubicBezTo>
                <a:cubicBezTo>
                  <a:pt x="1281546" y="52131"/>
                  <a:pt x="1326573" y="36544"/>
                  <a:pt x="1371600" y="2095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844">
        <p159:morph option="byObject"/>
      </p:transition>
    </mc:Choice>
    <mc:Fallback>
      <p:transition spd="med" advTm="45844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5" y="1075055"/>
            <a:ext cx="292659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具体关系模式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87045" y="1822450"/>
            <a:ext cx="11045825" cy="1251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4947218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3.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rPr>
              <a:t>逻辑结构设计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50281" y="1598275"/>
            <a:ext cx="2422410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6200" y="2121495"/>
            <a:ext cx="11984181" cy="4120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第二类，负责过程信息的储存，通常通过两个关系模式记录一次完整的处理，其中的信息主要目的为了记录过程中生成的信息，供后续查询使用：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采购单（</a:t>
            </a:r>
            <a:r>
              <a:rPr kumimoji="1" lang="zh-CN" altLang="en-US" sz="2200" u="sng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采购单编号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，供应商编号，总金额，时间，负责人）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采购细则（</a:t>
            </a:r>
            <a:r>
              <a:rPr kumimoji="1" lang="zh-CN" altLang="en-US" sz="2200" u="sng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采购单编号，电脑零件编号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，电脑零件数量，单种类电脑零件总金额，实到数量）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供货单（</a:t>
            </a:r>
            <a:r>
              <a:rPr kumimoji="1" lang="zh-CN" altLang="en-US" sz="2200" u="sng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供货单编号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，采购单编号，总金额，时间，负责人，完成情况）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供货细则（</a:t>
            </a:r>
            <a:r>
              <a:rPr kumimoji="1" lang="zh-CN" altLang="en-US" sz="2200" u="sng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采购单编号，电脑零件编号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，电脑零件数量，单种类电脑零件总金额）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入库单（</a:t>
            </a:r>
            <a:r>
              <a:rPr kumimoji="1" lang="zh-CN" altLang="en-US" sz="2200" u="sng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入库单编号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，时间，负责人）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入库细则（</a:t>
            </a:r>
            <a:r>
              <a:rPr kumimoji="1" lang="zh-CN" altLang="en-US" sz="2200" u="sng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入库单编号，库存编号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，核验结果）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2272145" y="4551042"/>
            <a:ext cx="3162118" cy="45719"/>
          </a:xfrm>
          <a:custGeom>
            <a:avLst/>
            <a:gdLst>
              <a:gd name="connsiteX0" fmla="*/ 0 w 1371600"/>
              <a:gd name="connsiteY0" fmla="*/ 7103 h 69465"/>
              <a:gd name="connsiteX1" fmla="*/ 110837 w 1371600"/>
              <a:gd name="connsiteY1" fmla="*/ 62522 h 69465"/>
              <a:gd name="connsiteX2" fmla="*/ 187037 w 1371600"/>
              <a:gd name="connsiteY2" fmla="*/ 7103 h 69465"/>
              <a:gd name="connsiteX3" fmla="*/ 290946 w 1371600"/>
              <a:gd name="connsiteY3" fmla="*/ 55594 h 69465"/>
              <a:gd name="connsiteX4" fmla="*/ 394855 w 1371600"/>
              <a:gd name="connsiteY4" fmla="*/ 7103 h 69465"/>
              <a:gd name="connsiteX5" fmla="*/ 498764 w 1371600"/>
              <a:gd name="connsiteY5" fmla="*/ 55594 h 69465"/>
              <a:gd name="connsiteX6" fmla="*/ 588819 w 1371600"/>
              <a:gd name="connsiteY6" fmla="*/ 176 h 69465"/>
              <a:gd name="connsiteX7" fmla="*/ 706582 w 1371600"/>
              <a:gd name="connsiteY7" fmla="*/ 69449 h 69465"/>
              <a:gd name="connsiteX8" fmla="*/ 782782 w 1371600"/>
              <a:gd name="connsiteY8" fmla="*/ 7103 h 69465"/>
              <a:gd name="connsiteX9" fmla="*/ 893619 w 1371600"/>
              <a:gd name="connsiteY9" fmla="*/ 48667 h 69465"/>
              <a:gd name="connsiteX10" fmla="*/ 969819 w 1371600"/>
              <a:gd name="connsiteY10" fmla="*/ 7103 h 69465"/>
              <a:gd name="connsiteX11" fmla="*/ 1046019 w 1371600"/>
              <a:gd name="connsiteY11" fmla="*/ 69449 h 69465"/>
              <a:gd name="connsiteX12" fmla="*/ 1163782 w 1371600"/>
              <a:gd name="connsiteY12" fmla="*/ 176 h 69465"/>
              <a:gd name="connsiteX13" fmla="*/ 1246910 w 1371600"/>
              <a:gd name="connsiteY13" fmla="*/ 48667 h 69465"/>
              <a:gd name="connsiteX14" fmla="*/ 1371600 w 1371600"/>
              <a:gd name="connsiteY14" fmla="*/ 20958 h 69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71600" h="69465">
                <a:moveTo>
                  <a:pt x="0" y="7103"/>
                </a:moveTo>
                <a:cubicBezTo>
                  <a:pt x="39832" y="34812"/>
                  <a:pt x="79664" y="62522"/>
                  <a:pt x="110837" y="62522"/>
                </a:cubicBezTo>
                <a:cubicBezTo>
                  <a:pt x="142010" y="62522"/>
                  <a:pt x="157019" y="8258"/>
                  <a:pt x="187037" y="7103"/>
                </a:cubicBezTo>
                <a:cubicBezTo>
                  <a:pt x="217055" y="5948"/>
                  <a:pt x="256310" y="55594"/>
                  <a:pt x="290946" y="55594"/>
                </a:cubicBezTo>
                <a:cubicBezTo>
                  <a:pt x="325582" y="55594"/>
                  <a:pt x="360219" y="7103"/>
                  <a:pt x="394855" y="7103"/>
                </a:cubicBezTo>
                <a:cubicBezTo>
                  <a:pt x="429491" y="7103"/>
                  <a:pt x="466437" y="56748"/>
                  <a:pt x="498764" y="55594"/>
                </a:cubicBezTo>
                <a:cubicBezTo>
                  <a:pt x="531091" y="54440"/>
                  <a:pt x="554183" y="-2133"/>
                  <a:pt x="588819" y="176"/>
                </a:cubicBezTo>
                <a:cubicBezTo>
                  <a:pt x="623455" y="2485"/>
                  <a:pt x="674255" y="68295"/>
                  <a:pt x="706582" y="69449"/>
                </a:cubicBezTo>
                <a:cubicBezTo>
                  <a:pt x="738909" y="70603"/>
                  <a:pt x="751609" y="10567"/>
                  <a:pt x="782782" y="7103"/>
                </a:cubicBezTo>
                <a:cubicBezTo>
                  <a:pt x="813955" y="3639"/>
                  <a:pt x="862446" y="48667"/>
                  <a:pt x="893619" y="48667"/>
                </a:cubicBezTo>
                <a:cubicBezTo>
                  <a:pt x="924792" y="48667"/>
                  <a:pt x="944419" y="3639"/>
                  <a:pt x="969819" y="7103"/>
                </a:cubicBezTo>
                <a:cubicBezTo>
                  <a:pt x="995219" y="10567"/>
                  <a:pt x="1013692" y="70603"/>
                  <a:pt x="1046019" y="69449"/>
                </a:cubicBezTo>
                <a:cubicBezTo>
                  <a:pt x="1078346" y="68295"/>
                  <a:pt x="1130300" y="3640"/>
                  <a:pt x="1163782" y="176"/>
                </a:cubicBezTo>
                <a:cubicBezTo>
                  <a:pt x="1197264" y="-3288"/>
                  <a:pt x="1212274" y="45203"/>
                  <a:pt x="1246910" y="48667"/>
                </a:cubicBezTo>
                <a:cubicBezTo>
                  <a:pt x="1281546" y="52131"/>
                  <a:pt x="1326573" y="36544"/>
                  <a:pt x="1371600" y="2095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>
            <a:off x="1801091" y="3338347"/>
            <a:ext cx="1371600" cy="69465"/>
          </a:xfrm>
          <a:custGeom>
            <a:avLst/>
            <a:gdLst>
              <a:gd name="connsiteX0" fmla="*/ 0 w 1371600"/>
              <a:gd name="connsiteY0" fmla="*/ 7103 h 69465"/>
              <a:gd name="connsiteX1" fmla="*/ 110837 w 1371600"/>
              <a:gd name="connsiteY1" fmla="*/ 62522 h 69465"/>
              <a:gd name="connsiteX2" fmla="*/ 187037 w 1371600"/>
              <a:gd name="connsiteY2" fmla="*/ 7103 h 69465"/>
              <a:gd name="connsiteX3" fmla="*/ 290946 w 1371600"/>
              <a:gd name="connsiteY3" fmla="*/ 55594 h 69465"/>
              <a:gd name="connsiteX4" fmla="*/ 394855 w 1371600"/>
              <a:gd name="connsiteY4" fmla="*/ 7103 h 69465"/>
              <a:gd name="connsiteX5" fmla="*/ 498764 w 1371600"/>
              <a:gd name="connsiteY5" fmla="*/ 55594 h 69465"/>
              <a:gd name="connsiteX6" fmla="*/ 588819 w 1371600"/>
              <a:gd name="connsiteY6" fmla="*/ 176 h 69465"/>
              <a:gd name="connsiteX7" fmla="*/ 706582 w 1371600"/>
              <a:gd name="connsiteY7" fmla="*/ 69449 h 69465"/>
              <a:gd name="connsiteX8" fmla="*/ 782782 w 1371600"/>
              <a:gd name="connsiteY8" fmla="*/ 7103 h 69465"/>
              <a:gd name="connsiteX9" fmla="*/ 893619 w 1371600"/>
              <a:gd name="connsiteY9" fmla="*/ 48667 h 69465"/>
              <a:gd name="connsiteX10" fmla="*/ 969819 w 1371600"/>
              <a:gd name="connsiteY10" fmla="*/ 7103 h 69465"/>
              <a:gd name="connsiteX11" fmla="*/ 1046019 w 1371600"/>
              <a:gd name="connsiteY11" fmla="*/ 69449 h 69465"/>
              <a:gd name="connsiteX12" fmla="*/ 1163782 w 1371600"/>
              <a:gd name="connsiteY12" fmla="*/ 176 h 69465"/>
              <a:gd name="connsiteX13" fmla="*/ 1246910 w 1371600"/>
              <a:gd name="connsiteY13" fmla="*/ 48667 h 69465"/>
              <a:gd name="connsiteX14" fmla="*/ 1371600 w 1371600"/>
              <a:gd name="connsiteY14" fmla="*/ 20958 h 69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71600" h="69465">
                <a:moveTo>
                  <a:pt x="0" y="7103"/>
                </a:moveTo>
                <a:cubicBezTo>
                  <a:pt x="39832" y="34812"/>
                  <a:pt x="79664" y="62522"/>
                  <a:pt x="110837" y="62522"/>
                </a:cubicBezTo>
                <a:cubicBezTo>
                  <a:pt x="142010" y="62522"/>
                  <a:pt x="157019" y="8258"/>
                  <a:pt x="187037" y="7103"/>
                </a:cubicBezTo>
                <a:cubicBezTo>
                  <a:pt x="217055" y="5948"/>
                  <a:pt x="256310" y="55594"/>
                  <a:pt x="290946" y="55594"/>
                </a:cubicBezTo>
                <a:cubicBezTo>
                  <a:pt x="325582" y="55594"/>
                  <a:pt x="360219" y="7103"/>
                  <a:pt x="394855" y="7103"/>
                </a:cubicBezTo>
                <a:cubicBezTo>
                  <a:pt x="429491" y="7103"/>
                  <a:pt x="466437" y="56748"/>
                  <a:pt x="498764" y="55594"/>
                </a:cubicBezTo>
                <a:cubicBezTo>
                  <a:pt x="531091" y="54440"/>
                  <a:pt x="554183" y="-2133"/>
                  <a:pt x="588819" y="176"/>
                </a:cubicBezTo>
                <a:cubicBezTo>
                  <a:pt x="623455" y="2485"/>
                  <a:pt x="674255" y="68295"/>
                  <a:pt x="706582" y="69449"/>
                </a:cubicBezTo>
                <a:cubicBezTo>
                  <a:pt x="738909" y="70603"/>
                  <a:pt x="751609" y="10567"/>
                  <a:pt x="782782" y="7103"/>
                </a:cubicBezTo>
                <a:cubicBezTo>
                  <a:pt x="813955" y="3639"/>
                  <a:pt x="862446" y="48667"/>
                  <a:pt x="893619" y="48667"/>
                </a:cubicBezTo>
                <a:cubicBezTo>
                  <a:pt x="924792" y="48667"/>
                  <a:pt x="944419" y="3639"/>
                  <a:pt x="969819" y="7103"/>
                </a:cubicBezTo>
                <a:cubicBezTo>
                  <a:pt x="995219" y="10567"/>
                  <a:pt x="1013692" y="70603"/>
                  <a:pt x="1046019" y="69449"/>
                </a:cubicBezTo>
                <a:cubicBezTo>
                  <a:pt x="1078346" y="68295"/>
                  <a:pt x="1130300" y="3640"/>
                  <a:pt x="1163782" y="176"/>
                </a:cubicBezTo>
                <a:cubicBezTo>
                  <a:pt x="1197264" y="-3288"/>
                  <a:pt x="1212274" y="45203"/>
                  <a:pt x="1246910" y="48667"/>
                </a:cubicBezTo>
                <a:cubicBezTo>
                  <a:pt x="1281546" y="52131"/>
                  <a:pt x="1326573" y="36544"/>
                  <a:pt x="1371600" y="2095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/>
        </p:nvSpPr>
        <p:spPr>
          <a:xfrm>
            <a:off x="1801091" y="4919552"/>
            <a:ext cx="1371600" cy="69465"/>
          </a:xfrm>
          <a:custGeom>
            <a:avLst/>
            <a:gdLst>
              <a:gd name="connsiteX0" fmla="*/ 0 w 1371600"/>
              <a:gd name="connsiteY0" fmla="*/ 7103 h 69465"/>
              <a:gd name="connsiteX1" fmla="*/ 110837 w 1371600"/>
              <a:gd name="connsiteY1" fmla="*/ 62522 h 69465"/>
              <a:gd name="connsiteX2" fmla="*/ 187037 w 1371600"/>
              <a:gd name="connsiteY2" fmla="*/ 7103 h 69465"/>
              <a:gd name="connsiteX3" fmla="*/ 290946 w 1371600"/>
              <a:gd name="connsiteY3" fmla="*/ 55594 h 69465"/>
              <a:gd name="connsiteX4" fmla="*/ 394855 w 1371600"/>
              <a:gd name="connsiteY4" fmla="*/ 7103 h 69465"/>
              <a:gd name="connsiteX5" fmla="*/ 498764 w 1371600"/>
              <a:gd name="connsiteY5" fmla="*/ 55594 h 69465"/>
              <a:gd name="connsiteX6" fmla="*/ 588819 w 1371600"/>
              <a:gd name="connsiteY6" fmla="*/ 176 h 69465"/>
              <a:gd name="connsiteX7" fmla="*/ 706582 w 1371600"/>
              <a:gd name="connsiteY7" fmla="*/ 69449 h 69465"/>
              <a:gd name="connsiteX8" fmla="*/ 782782 w 1371600"/>
              <a:gd name="connsiteY8" fmla="*/ 7103 h 69465"/>
              <a:gd name="connsiteX9" fmla="*/ 893619 w 1371600"/>
              <a:gd name="connsiteY9" fmla="*/ 48667 h 69465"/>
              <a:gd name="connsiteX10" fmla="*/ 969819 w 1371600"/>
              <a:gd name="connsiteY10" fmla="*/ 7103 h 69465"/>
              <a:gd name="connsiteX11" fmla="*/ 1046019 w 1371600"/>
              <a:gd name="connsiteY11" fmla="*/ 69449 h 69465"/>
              <a:gd name="connsiteX12" fmla="*/ 1163782 w 1371600"/>
              <a:gd name="connsiteY12" fmla="*/ 176 h 69465"/>
              <a:gd name="connsiteX13" fmla="*/ 1246910 w 1371600"/>
              <a:gd name="connsiteY13" fmla="*/ 48667 h 69465"/>
              <a:gd name="connsiteX14" fmla="*/ 1371600 w 1371600"/>
              <a:gd name="connsiteY14" fmla="*/ 20958 h 69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71600" h="69465">
                <a:moveTo>
                  <a:pt x="0" y="7103"/>
                </a:moveTo>
                <a:cubicBezTo>
                  <a:pt x="39832" y="34812"/>
                  <a:pt x="79664" y="62522"/>
                  <a:pt x="110837" y="62522"/>
                </a:cubicBezTo>
                <a:cubicBezTo>
                  <a:pt x="142010" y="62522"/>
                  <a:pt x="157019" y="8258"/>
                  <a:pt x="187037" y="7103"/>
                </a:cubicBezTo>
                <a:cubicBezTo>
                  <a:pt x="217055" y="5948"/>
                  <a:pt x="256310" y="55594"/>
                  <a:pt x="290946" y="55594"/>
                </a:cubicBezTo>
                <a:cubicBezTo>
                  <a:pt x="325582" y="55594"/>
                  <a:pt x="360219" y="7103"/>
                  <a:pt x="394855" y="7103"/>
                </a:cubicBezTo>
                <a:cubicBezTo>
                  <a:pt x="429491" y="7103"/>
                  <a:pt x="466437" y="56748"/>
                  <a:pt x="498764" y="55594"/>
                </a:cubicBezTo>
                <a:cubicBezTo>
                  <a:pt x="531091" y="54440"/>
                  <a:pt x="554183" y="-2133"/>
                  <a:pt x="588819" y="176"/>
                </a:cubicBezTo>
                <a:cubicBezTo>
                  <a:pt x="623455" y="2485"/>
                  <a:pt x="674255" y="68295"/>
                  <a:pt x="706582" y="69449"/>
                </a:cubicBezTo>
                <a:cubicBezTo>
                  <a:pt x="738909" y="70603"/>
                  <a:pt x="751609" y="10567"/>
                  <a:pt x="782782" y="7103"/>
                </a:cubicBezTo>
                <a:cubicBezTo>
                  <a:pt x="813955" y="3639"/>
                  <a:pt x="862446" y="48667"/>
                  <a:pt x="893619" y="48667"/>
                </a:cubicBezTo>
                <a:cubicBezTo>
                  <a:pt x="924792" y="48667"/>
                  <a:pt x="944419" y="3639"/>
                  <a:pt x="969819" y="7103"/>
                </a:cubicBezTo>
                <a:cubicBezTo>
                  <a:pt x="995219" y="10567"/>
                  <a:pt x="1013692" y="70603"/>
                  <a:pt x="1046019" y="69449"/>
                </a:cubicBezTo>
                <a:cubicBezTo>
                  <a:pt x="1078346" y="68295"/>
                  <a:pt x="1130300" y="3640"/>
                  <a:pt x="1163782" y="176"/>
                </a:cubicBezTo>
                <a:cubicBezTo>
                  <a:pt x="1197264" y="-3288"/>
                  <a:pt x="1212274" y="45203"/>
                  <a:pt x="1246910" y="48667"/>
                </a:cubicBezTo>
                <a:cubicBezTo>
                  <a:pt x="1281546" y="52131"/>
                  <a:pt x="1326573" y="36544"/>
                  <a:pt x="1371600" y="2095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/>
        </p:nvSpPr>
        <p:spPr>
          <a:xfrm>
            <a:off x="1801091" y="4112241"/>
            <a:ext cx="1371600" cy="69465"/>
          </a:xfrm>
          <a:custGeom>
            <a:avLst/>
            <a:gdLst>
              <a:gd name="connsiteX0" fmla="*/ 0 w 1371600"/>
              <a:gd name="connsiteY0" fmla="*/ 7103 h 69465"/>
              <a:gd name="connsiteX1" fmla="*/ 110837 w 1371600"/>
              <a:gd name="connsiteY1" fmla="*/ 62522 h 69465"/>
              <a:gd name="connsiteX2" fmla="*/ 187037 w 1371600"/>
              <a:gd name="connsiteY2" fmla="*/ 7103 h 69465"/>
              <a:gd name="connsiteX3" fmla="*/ 290946 w 1371600"/>
              <a:gd name="connsiteY3" fmla="*/ 55594 h 69465"/>
              <a:gd name="connsiteX4" fmla="*/ 394855 w 1371600"/>
              <a:gd name="connsiteY4" fmla="*/ 7103 h 69465"/>
              <a:gd name="connsiteX5" fmla="*/ 498764 w 1371600"/>
              <a:gd name="connsiteY5" fmla="*/ 55594 h 69465"/>
              <a:gd name="connsiteX6" fmla="*/ 588819 w 1371600"/>
              <a:gd name="connsiteY6" fmla="*/ 176 h 69465"/>
              <a:gd name="connsiteX7" fmla="*/ 706582 w 1371600"/>
              <a:gd name="connsiteY7" fmla="*/ 69449 h 69465"/>
              <a:gd name="connsiteX8" fmla="*/ 782782 w 1371600"/>
              <a:gd name="connsiteY8" fmla="*/ 7103 h 69465"/>
              <a:gd name="connsiteX9" fmla="*/ 893619 w 1371600"/>
              <a:gd name="connsiteY9" fmla="*/ 48667 h 69465"/>
              <a:gd name="connsiteX10" fmla="*/ 969819 w 1371600"/>
              <a:gd name="connsiteY10" fmla="*/ 7103 h 69465"/>
              <a:gd name="connsiteX11" fmla="*/ 1046019 w 1371600"/>
              <a:gd name="connsiteY11" fmla="*/ 69449 h 69465"/>
              <a:gd name="connsiteX12" fmla="*/ 1163782 w 1371600"/>
              <a:gd name="connsiteY12" fmla="*/ 176 h 69465"/>
              <a:gd name="connsiteX13" fmla="*/ 1246910 w 1371600"/>
              <a:gd name="connsiteY13" fmla="*/ 48667 h 69465"/>
              <a:gd name="connsiteX14" fmla="*/ 1371600 w 1371600"/>
              <a:gd name="connsiteY14" fmla="*/ 20958 h 69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71600" h="69465">
                <a:moveTo>
                  <a:pt x="0" y="7103"/>
                </a:moveTo>
                <a:cubicBezTo>
                  <a:pt x="39832" y="34812"/>
                  <a:pt x="79664" y="62522"/>
                  <a:pt x="110837" y="62522"/>
                </a:cubicBezTo>
                <a:cubicBezTo>
                  <a:pt x="142010" y="62522"/>
                  <a:pt x="157019" y="8258"/>
                  <a:pt x="187037" y="7103"/>
                </a:cubicBezTo>
                <a:cubicBezTo>
                  <a:pt x="217055" y="5948"/>
                  <a:pt x="256310" y="55594"/>
                  <a:pt x="290946" y="55594"/>
                </a:cubicBezTo>
                <a:cubicBezTo>
                  <a:pt x="325582" y="55594"/>
                  <a:pt x="360219" y="7103"/>
                  <a:pt x="394855" y="7103"/>
                </a:cubicBezTo>
                <a:cubicBezTo>
                  <a:pt x="429491" y="7103"/>
                  <a:pt x="466437" y="56748"/>
                  <a:pt x="498764" y="55594"/>
                </a:cubicBezTo>
                <a:cubicBezTo>
                  <a:pt x="531091" y="54440"/>
                  <a:pt x="554183" y="-2133"/>
                  <a:pt x="588819" y="176"/>
                </a:cubicBezTo>
                <a:cubicBezTo>
                  <a:pt x="623455" y="2485"/>
                  <a:pt x="674255" y="68295"/>
                  <a:pt x="706582" y="69449"/>
                </a:cubicBezTo>
                <a:cubicBezTo>
                  <a:pt x="738909" y="70603"/>
                  <a:pt x="751609" y="10567"/>
                  <a:pt x="782782" y="7103"/>
                </a:cubicBezTo>
                <a:cubicBezTo>
                  <a:pt x="813955" y="3639"/>
                  <a:pt x="862446" y="48667"/>
                  <a:pt x="893619" y="48667"/>
                </a:cubicBezTo>
                <a:cubicBezTo>
                  <a:pt x="924792" y="48667"/>
                  <a:pt x="944419" y="3639"/>
                  <a:pt x="969819" y="7103"/>
                </a:cubicBezTo>
                <a:cubicBezTo>
                  <a:pt x="995219" y="10567"/>
                  <a:pt x="1013692" y="70603"/>
                  <a:pt x="1046019" y="69449"/>
                </a:cubicBezTo>
                <a:cubicBezTo>
                  <a:pt x="1078346" y="68295"/>
                  <a:pt x="1130300" y="3640"/>
                  <a:pt x="1163782" y="176"/>
                </a:cubicBezTo>
                <a:cubicBezTo>
                  <a:pt x="1197264" y="-3288"/>
                  <a:pt x="1212274" y="45203"/>
                  <a:pt x="1246910" y="48667"/>
                </a:cubicBezTo>
                <a:cubicBezTo>
                  <a:pt x="1281546" y="52131"/>
                  <a:pt x="1326573" y="36544"/>
                  <a:pt x="1371600" y="2095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/>
        </p:nvSpPr>
        <p:spPr>
          <a:xfrm>
            <a:off x="2189018" y="3730603"/>
            <a:ext cx="3162118" cy="45719"/>
          </a:xfrm>
          <a:custGeom>
            <a:avLst/>
            <a:gdLst>
              <a:gd name="connsiteX0" fmla="*/ 0 w 1371600"/>
              <a:gd name="connsiteY0" fmla="*/ 7103 h 69465"/>
              <a:gd name="connsiteX1" fmla="*/ 110837 w 1371600"/>
              <a:gd name="connsiteY1" fmla="*/ 62522 h 69465"/>
              <a:gd name="connsiteX2" fmla="*/ 187037 w 1371600"/>
              <a:gd name="connsiteY2" fmla="*/ 7103 h 69465"/>
              <a:gd name="connsiteX3" fmla="*/ 290946 w 1371600"/>
              <a:gd name="connsiteY3" fmla="*/ 55594 h 69465"/>
              <a:gd name="connsiteX4" fmla="*/ 394855 w 1371600"/>
              <a:gd name="connsiteY4" fmla="*/ 7103 h 69465"/>
              <a:gd name="connsiteX5" fmla="*/ 498764 w 1371600"/>
              <a:gd name="connsiteY5" fmla="*/ 55594 h 69465"/>
              <a:gd name="connsiteX6" fmla="*/ 588819 w 1371600"/>
              <a:gd name="connsiteY6" fmla="*/ 176 h 69465"/>
              <a:gd name="connsiteX7" fmla="*/ 706582 w 1371600"/>
              <a:gd name="connsiteY7" fmla="*/ 69449 h 69465"/>
              <a:gd name="connsiteX8" fmla="*/ 782782 w 1371600"/>
              <a:gd name="connsiteY8" fmla="*/ 7103 h 69465"/>
              <a:gd name="connsiteX9" fmla="*/ 893619 w 1371600"/>
              <a:gd name="connsiteY9" fmla="*/ 48667 h 69465"/>
              <a:gd name="connsiteX10" fmla="*/ 969819 w 1371600"/>
              <a:gd name="connsiteY10" fmla="*/ 7103 h 69465"/>
              <a:gd name="connsiteX11" fmla="*/ 1046019 w 1371600"/>
              <a:gd name="connsiteY11" fmla="*/ 69449 h 69465"/>
              <a:gd name="connsiteX12" fmla="*/ 1163782 w 1371600"/>
              <a:gd name="connsiteY12" fmla="*/ 176 h 69465"/>
              <a:gd name="connsiteX13" fmla="*/ 1246910 w 1371600"/>
              <a:gd name="connsiteY13" fmla="*/ 48667 h 69465"/>
              <a:gd name="connsiteX14" fmla="*/ 1371600 w 1371600"/>
              <a:gd name="connsiteY14" fmla="*/ 20958 h 69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71600" h="69465">
                <a:moveTo>
                  <a:pt x="0" y="7103"/>
                </a:moveTo>
                <a:cubicBezTo>
                  <a:pt x="39832" y="34812"/>
                  <a:pt x="79664" y="62522"/>
                  <a:pt x="110837" y="62522"/>
                </a:cubicBezTo>
                <a:cubicBezTo>
                  <a:pt x="142010" y="62522"/>
                  <a:pt x="157019" y="8258"/>
                  <a:pt x="187037" y="7103"/>
                </a:cubicBezTo>
                <a:cubicBezTo>
                  <a:pt x="217055" y="5948"/>
                  <a:pt x="256310" y="55594"/>
                  <a:pt x="290946" y="55594"/>
                </a:cubicBezTo>
                <a:cubicBezTo>
                  <a:pt x="325582" y="55594"/>
                  <a:pt x="360219" y="7103"/>
                  <a:pt x="394855" y="7103"/>
                </a:cubicBezTo>
                <a:cubicBezTo>
                  <a:pt x="429491" y="7103"/>
                  <a:pt x="466437" y="56748"/>
                  <a:pt x="498764" y="55594"/>
                </a:cubicBezTo>
                <a:cubicBezTo>
                  <a:pt x="531091" y="54440"/>
                  <a:pt x="554183" y="-2133"/>
                  <a:pt x="588819" y="176"/>
                </a:cubicBezTo>
                <a:cubicBezTo>
                  <a:pt x="623455" y="2485"/>
                  <a:pt x="674255" y="68295"/>
                  <a:pt x="706582" y="69449"/>
                </a:cubicBezTo>
                <a:cubicBezTo>
                  <a:pt x="738909" y="70603"/>
                  <a:pt x="751609" y="10567"/>
                  <a:pt x="782782" y="7103"/>
                </a:cubicBezTo>
                <a:cubicBezTo>
                  <a:pt x="813955" y="3639"/>
                  <a:pt x="862446" y="48667"/>
                  <a:pt x="893619" y="48667"/>
                </a:cubicBezTo>
                <a:cubicBezTo>
                  <a:pt x="924792" y="48667"/>
                  <a:pt x="944419" y="3639"/>
                  <a:pt x="969819" y="7103"/>
                </a:cubicBezTo>
                <a:cubicBezTo>
                  <a:pt x="995219" y="10567"/>
                  <a:pt x="1013692" y="70603"/>
                  <a:pt x="1046019" y="69449"/>
                </a:cubicBezTo>
                <a:cubicBezTo>
                  <a:pt x="1078346" y="68295"/>
                  <a:pt x="1130300" y="3640"/>
                  <a:pt x="1163782" y="176"/>
                </a:cubicBezTo>
                <a:cubicBezTo>
                  <a:pt x="1197264" y="-3288"/>
                  <a:pt x="1212274" y="45203"/>
                  <a:pt x="1246910" y="48667"/>
                </a:cubicBezTo>
                <a:cubicBezTo>
                  <a:pt x="1281546" y="52131"/>
                  <a:pt x="1326573" y="36544"/>
                  <a:pt x="1371600" y="2095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: 形状 20"/>
          <p:cNvSpPr/>
          <p:nvPr/>
        </p:nvSpPr>
        <p:spPr>
          <a:xfrm>
            <a:off x="2085109" y="5348621"/>
            <a:ext cx="2743200" cy="69465"/>
          </a:xfrm>
          <a:custGeom>
            <a:avLst/>
            <a:gdLst>
              <a:gd name="connsiteX0" fmla="*/ 0 w 1371600"/>
              <a:gd name="connsiteY0" fmla="*/ 7103 h 69465"/>
              <a:gd name="connsiteX1" fmla="*/ 110837 w 1371600"/>
              <a:gd name="connsiteY1" fmla="*/ 62522 h 69465"/>
              <a:gd name="connsiteX2" fmla="*/ 187037 w 1371600"/>
              <a:gd name="connsiteY2" fmla="*/ 7103 h 69465"/>
              <a:gd name="connsiteX3" fmla="*/ 290946 w 1371600"/>
              <a:gd name="connsiteY3" fmla="*/ 55594 h 69465"/>
              <a:gd name="connsiteX4" fmla="*/ 394855 w 1371600"/>
              <a:gd name="connsiteY4" fmla="*/ 7103 h 69465"/>
              <a:gd name="connsiteX5" fmla="*/ 498764 w 1371600"/>
              <a:gd name="connsiteY5" fmla="*/ 55594 h 69465"/>
              <a:gd name="connsiteX6" fmla="*/ 588819 w 1371600"/>
              <a:gd name="connsiteY6" fmla="*/ 176 h 69465"/>
              <a:gd name="connsiteX7" fmla="*/ 706582 w 1371600"/>
              <a:gd name="connsiteY7" fmla="*/ 69449 h 69465"/>
              <a:gd name="connsiteX8" fmla="*/ 782782 w 1371600"/>
              <a:gd name="connsiteY8" fmla="*/ 7103 h 69465"/>
              <a:gd name="connsiteX9" fmla="*/ 893619 w 1371600"/>
              <a:gd name="connsiteY9" fmla="*/ 48667 h 69465"/>
              <a:gd name="connsiteX10" fmla="*/ 969819 w 1371600"/>
              <a:gd name="connsiteY10" fmla="*/ 7103 h 69465"/>
              <a:gd name="connsiteX11" fmla="*/ 1046019 w 1371600"/>
              <a:gd name="connsiteY11" fmla="*/ 69449 h 69465"/>
              <a:gd name="connsiteX12" fmla="*/ 1163782 w 1371600"/>
              <a:gd name="connsiteY12" fmla="*/ 176 h 69465"/>
              <a:gd name="connsiteX13" fmla="*/ 1246910 w 1371600"/>
              <a:gd name="connsiteY13" fmla="*/ 48667 h 69465"/>
              <a:gd name="connsiteX14" fmla="*/ 1371600 w 1371600"/>
              <a:gd name="connsiteY14" fmla="*/ 20958 h 69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71600" h="69465">
                <a:moveTo>
                  <a:pt x="0" y="7103"/>
                </a:moveTo>
                <a:cubicBezTo>
                  <a:pt x="39832" y="34812"/>
                  <a:pt x="79664" y="62522"/>
                  <a:pt x="110837" y="62522"/>
                </a:cubicBezTo>
                <a:cubicBezTo>
                  <a:pt x="142010" y="62522"/>
                  <a:pt x="157019" y="8258"/>
                  <a:pt x="187037" y="7103"/>
                </a:cubicBezTo>
                <a:cubicBezTo>
                  <a:pt x="217055" y="5948"/>
                  <a:pt x="256310" y="55594"/>
                  <a:pt x="290946" y="55594"/>
                </a:cubicBezTo>
                <a:cubicBezTo>
                  <a:pt x="325582" y="55594"/>
                  <a:pt x="360219" y="7103"/>
                  <a:pt x="394855" y="7103"/>
                </a:cubicBezTo>
                <a:cubicBezTo>
                  <a:pt x="429491" y="7103"/>
                  <a:pt x="466437" y="56748"/>
                  <a:pt x="498764" y="55594"/>
                </a:cubicBezTo>
                <a:cubicBezTo>
                  <a:pt x="531091" y="54440"/>
                  <a:pt x="554183" y="-2133"/>
                  <a:pt x="588819" y="176"/>
                </a:cubicBezTo>
                <a:cubicBezTo>
                  <a:pt x="623455" y="2485"/>
                  <a:pt x="674255" y="68295"/>
                  <a:pt x="706582" y="69449"/>
                </a:cubicBezTo>
                <a:cubicBezTo>
                  <a:pt x="738909" y="70603"/>
                  <a:pt x="751609" y="10567"/>
                  <a:pt x="782782" y="7103"/>
                </a:cubicBezTo>
                <a:cubicBezTo>
                  <a:pt x="813955" y="3639"/>
                  <a:pt x="862446" y="48667"/>
                  <a:pt x="893619" y="48667"/>
                </a:cubicBezTo>
                <a:cubicBezTo>
                  <a:pt x="924792" y="48667"/>
                  <a:pt x="944419" y="3639"/>
                  <a:pt x="969819" y="7103"/>
                </a:cubicBezTo>
                <a:cubicBezTo>
                  <a:pt x="995219" y="10567"/>
                  <a:pt x="1013692" y="70603"/>
                  <a:pt x="1046019" y="69449"/>
                </a:cubicBezTo>
                <a:cubicBezTo>
                  <a:pt x="1078346" y="68295"/>
                  <a:pt x="1130300" y="3640"/>
                  <a:pt x="1163782" y="176"/>
                </a:cubicBezTo>
                <a:cubicBezTo>
                  <a:pt x="1197264" y="-3288"/>
                  <a:pt x="1212274" y="45203"/>
                  <a:pt x="1246910" y="48667"/>
                </a:cubicBezTo>
                <a:cubicBezTo>
                  <a:pt x="1281546" y="52131"/>
                  <a:pt x="1326573" y="36544"/>
                  <a:pt x="1371600" y="2095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844">
        <p159:morph option="byObject"/>
      </p:transition>
    </mc:Choice>
    <mc:Fallback>
      <p:transition spd="med" advTm="45844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5" y="1075055"/>
            <a:ext cx="292659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用户子模式设计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87045" y="1822450"/>
            <a:ext cx="11045825" cy="1251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4947218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3.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rPr>
              <a:t>逻辑结构设计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3245" y="1597025"/>
            <a:ext cx="258173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72949" y="2448242"/>
            <a:ext cx="11419643" cy="1682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在电脑零件进销存系统中，用户最关心的有两件事情，即当前库存中还有多少电脑零件，和各种类的电脑零件销量如何。因此，建立两个视图，分别对其进行描述：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库存统计（电脑零件编号，库存总数）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销量统计（电脑零件编号，销量总数）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844">
        <p159:morph option="byObject"/>
      </p:transition>
    </mc:Choice>
    <mc:Fallback>
      <p:transition spd="med" advTm="45844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218383" y="1073805"/>
            <a:ext cx="292659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关系模式结构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4947218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3.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rPr>
              <a:t>逻辑结构设计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3245" y="1597025"/>
            <a:ext cx="220073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5535" y="1827540"/>
            <a:ext cx="6610810" cy="446435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886510" y="6337741"/>
            <a:ext cx="4028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第一类关系模式结构示例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844">
        <p159:morph option="byObject"/>
      </p:transition>
    </mc:Choice>
    <mc:Fallback>
      <p:transition spd="med" advTm="45844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218383" y="1073805"/>
            <a:ext cx="292659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关系模式结构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4947218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3.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rPr>
              <a:t>逻辑结构设计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3245" y="1597025"/>
            <a:ext cx="220073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886510" y="6337741"/>
            <a:ext cx="4028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第二类关系模式结构示例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9973" y="1785875"/>
            <a:ext cx="5821933" cy="4444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844">
        <p159:morph option="byObject"/>
      </p:transition>
    </mc:Choice>
    <mc:Fallback>
      <p:transition spd="med" advTm="45844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7365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77691" y="2518410"/>
            <a:ext cx="4475364" cy="103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5000"/>
              </a:lnSpc>
            </a:pPr>
            <a:r>
              <a:rPr lang="zh-CN" altLang="en-US" sz="5400" spc="200" dirty="0">
                <a:solidFill>
                  <a:srgbClr val="2E461C"/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+mn-ea"/>
              </a:rPr>
              <a:t>物理结构设计</a:t>
            </a:r>
            <a:endParaRPr lang="zh-CN" altLang="en-US" sz="5400" spc="200" dirty="0">
              <a:solidFill>
                <a:srgbClr val="2E461C"/>
              </a:solidFill>
              <a:uFillTx/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8000" b="1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553">
        <p159:morph option="byObject"/>
      </p:transition>
    </mc:Choice>
    <mc:Fallback>
      <p:transition spd="med" advTm="1553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5" y="1075055"/>
            <a:ext cx="292659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主要目标与分析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87045" y="1822450"/>
            <a:ext cx="11045825" cy="1251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4947218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4.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物理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rPr>
              <a:t>结构设计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3245" y="1597025"/>
            <a:ext cx="258173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72949" y="1595776"/>
            <a:ext cx="11419643" cy="3307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索引的主要目的是为了提供查询速度，加速表连接操作，并优化排序与分组操作，在设计上的原则包括选择性原则（高选择性列优先），常用查询原则（包含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where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，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join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等），适度原则（平衡读写速度）等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 通过对电脑零件进销存系统的实现过程的分析，可以发现电脑零件信息表中的电脑零件编号，供应商编号这两个属性列，在分析顾客需求，生成采购单等环节被多次使用，且常常涉及到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natural join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与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where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判断等操作。所以应对这两个属性列分别建立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B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树索引，以加速相关的查询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245" y="4991488"/>
            <a:ext cx="5463482" cy="5507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631" y="4409617"/>
            <a:ext cx="4901297" cy="170521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671011" y="6385163"/>
            <a:ext cx="667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与电脑零件编号（</a:t>
            </a:r>
            <a:r>
              <a:rPr lang="en-US" altLang="zh-CN" dirty="0" err="1"/>
              <a:t>cpid</a:t>
            </a:r>
            <a:r>
              <a:rPr lang="zh-CN" altLang="en-US" dirty="0"/>
              <a:t>）和供应商编号（</a:t>
            </a:r>
            <a:r>
              <a:rPr lang="en-US" altLang="zh-CN" dirty="0" err="1"/>
              <a:t>supid</a:t>
            </a:r>
            <a:r>
              <a:rPr lang="zh-CN" altLang="en-US" dirty="0"/>
              <a:t>）相关的查询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844">
        <p159:morph option="byObject"/>
      </p:transition>
    </mc:Choice>
    <mc:Fallback>
      <p:transition spd="med" advTm="45844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7365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77690" y="2518410"/>
            <a:ext cx="5792469" cy="2074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5000"/>
              </a:lnSpc>
            </a:pPr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数据库实施与测试</a:t>
            </a: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indent="0" fontAlgn="auto">
              <a:lnSpc>
                <a:spcPct val="125000"/>
              </a:lnSpc>
            </a:pPr>
            <a:endParaRPr lang="zh-CN" altLang="en-US" sz="5400" spc="200" dirty="0">
              <a:solidFill>
                <a:srgbClr val="2E461C"/>
              </a:solidFill>
              <a:uFillTx/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5</a:t>
            </a:r>
            <a:endParaRPr lang="en-US" altLang="zh-CN" sz="8000" b="1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553">
        <p159:morph option="byObject"/>
      </p:transition>
    </mc:Choice>
    <mc:Fallback>
      <p:transition spd="med" advTm="1553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5" y="1075055"/>
            <a:ext cx="23932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基本表的建立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87045" y="1822450"/>
            <a:ext cx="11045825" cy="1251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4947218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5.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数据库实施与测试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3245" y="1597025"/>
            <a:ext cx="2179955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268" y="2641952"/>
            <a:ext cx="5074756" cy="2131626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6246" y="2226421"/>
            <a:ext cx="5606245" cy="2962689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2607300" y="5893326"/>
            <a:ext cx="667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第一类和第二类表的建立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844">
        <p159:morph option="byObject"/>
      </p:transition>
    </mc:Choice>
    <mc:Fallback>
      <p:transition spd="med" advTm="45844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5" y="1075055"/>
            <a:ext cx="23932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视图的建立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87045" y="1822450"/>
            <a:ext cx="11045825" cy="1251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4947218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5.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数据库实施与测试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3245" y="1597025"/>
            <a:ext cx="2179955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671011" y="5872545"/>
            <a:ext cx="667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两张视图的建立代码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4049676"/>
            <a:ext cx="6234219" cy="111600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255" y="2451782"/>
            <a:ext cx="6234220" cy="10449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844">
        <p159:morph option="byObject"/>
      </p:transition>
    </mc:Choice>
    <mc:Fallback>
      <p:transition spd="med" advTm="45844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5" y="1075055"/>
            <a:ext cx="23932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索引的建立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87045" y="1822450"/>
            <a:ext cx="11045825" cy="1251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4947218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5.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数据库实施与测试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3245" y="1597025"/>
            <a:ext cx="2179955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671011" y="5260975"/>
            <a:ext cx="667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两个索引的建立代码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203" y="3105105"/>
            <a:ext cx="9983593" cy="647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844">
        <p159:morph option="byObject"/>
      </p:transition>
    </mc:Choice>
    <mc:Fallback>
      <p:transition spd="med" advTm="45844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4" y="1075055"/>
            <a:ext cx="278112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存储过程的建立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4947218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5.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数据库实施与测试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53299" y="1581245"/>
            <a:ext cx="2567882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40055" y="3098906"/>
            <a:ext cx="506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由</a:t>
            </a:r>
            <a:r>
              <a:rPr lang="en-US" altLang="zh-CN" dirty="0"/>
              <a:t>PRODUCE_PURCHASELIST</a:t>
            </a:r>
            <a:r>
              <a:rPr lang="zh-CN" altLang="en-US" dirty="0"/>
              <a:t>和</a:t>
            </a:r>
            <a:r>
              <a:rPr lang="en-US" altLang="zh-CN" dirty="0"/>
              <a:t>PRODUCE_PURCHASELIST_DEATAIL</a:t>
            </a:r>
            <a:r>
              <a:rPr lang="zh-CN" altLang="en-US" dirty="0"/>
              <a:t>完成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786062" y="5400607"/>
            <a:ext cx="4648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由</a:t>
            </a:r>
            <a:r>
              <a:rPr lang="en-US" altLang="zh-CN" dirty="0"/>
              <a:t>DEAL SUPPLYLIST</a:t>
            </a:r>
            <a:r>
              <a:rPr lang="zh-CN" altLang="en-US" dirty="0"/>
              <a:t>和</a:t>
            </a:r>
            <a:endParaRPr lang="en-US" altLang="zh-CN" dirty="0"/>
          </a:p>
          <a:p>
            <a:pPr algn="ctr"/>
            <a:r>
              <a:rPr lang="en-US" altLang="zh-CN" dirty="0"/>
              <a:t>DEAL_SUPPLYLIST_DETAIL</a:t>
            </a:r>
            <a:r>
              <a:rPr lang="zh-CN" altLang="en-US" dirty="0"/>
              <a:t>完成</a:t>
            </a:r>
            <a:endParaRPr lang="zh-CN" altLang="zh-CN" dirty="0"/>
          </a:p>
          <a:p>
            <a:pPr algn="ctr"/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5752917" y="3088793"/>
            <a:ext cx="6068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由</a:t>
            </a:r>
            <a:r>
              <a:rPr lang="en-US" altLang="zh-CN" dirty="0"/>
              <a:t>DEAL_CHECK_RESULT_SCRAP</a:t>
            </a:r>
            <a:r>
              <a:rPr lang="zh-CN" altLang="en-US" dirty="0"/>
              <a:t>完成</a:t>
            </a:r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5776979" y="5400607"/>
            <a:ext cx="6068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由</a:t>
            </a:r>
            <a:r>
              <a:rPr lang="en-US" altLang="zh-CN" dirty="0"/>
              <a:t>DEAL_INVENTORY_PURCHASE</a:t>
            </a:r>
            <a:r>
              <a:rPr lang="zh-CN" altLang="en-US" dirty="0"/>
              <a:t>完成</a:t>
            </a:r>
            <a:endParaRPr lang="zh-CN" altLang="zh-CN" dirty="0"/>
          </a:p>
          <a:p>
            <a:pPr algn="ctr"/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213" y="2050641"/>
            <a:ext cx="984882" cy="939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7807" y="4303851"/>
            <a:ext cx="984882" cy="9396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859" y="4313196"/>
            <a:ext cx="984882" cy="9396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4621" y="2050641"/>
            <a:ext cx="984882" cy="9396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4393" y="4300102"/>
            <a:ext cx="984882" cy="93960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8683" y="4309447"/>
            <a:ext cx="984882" cy="93960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53544" y="4300102"/>
            <a:ext cx="984882" cy="93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844">
        <p159:morph option="byObject"/>
      </p:transition>
    </mc:Choice>
    <mc:Fallback>
      <p:transition spd="med" advTm="45844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4" y="1075055"/>
            <a:ext cx="278112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存储过程的建立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4947218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5.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数据库实施与测试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53299" y="1581245"/>
            <a:ext cx="2567882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30645" y="3098906"/>
            <a:ext cx="4648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由</a:t>
            </a:r>
            <a:r>
              <a:rPr lang="en-US" altLang="zh-CN" dirty="0"/>
              <a:t>DEAL_BUYLIST</a:t>
            </a:r>
            <a:r>
              <a:rPr lang="zh-CN" altLang="en-US" dirty="0"/>
              <a:t>，</a:t>
            </a:r>
            <a:r>
              <a:rPr lang="en-US" altLang="zh-CN" dirty="0"/>
              <a:t>DEAL_BUYLIST_DETAIL</a:t>
            </a:r>
            <a:r>
              <a:rPr lang="zh-CN" altLang="en-US" dirty="0"/>
              <a:t>和</a:t>
            </a:r>
            <a:endParaRPr lang="en-US" altLang="zh-CN" dirty="0"/>
          </a:p>
          <a:p>
            <a:pPr algn="ctr"/>
            <a:r>
              <a:rPr lang="en-US" altLang="zh-CN" dirty="0"/>
              <a:t>DEAL_BUYLIST_PKG</a:t>
            </a:r>
            <a:r>
              <a:rPr lang="zh-CN" altLang="en-US" dirty="0"/>
              <a:t>完成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9149" y="2014852"/>
            <a:ext cx="982806" cy="9376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9950" y="2014852"/>
            <a:ext cx="984882" cy="9396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7073" y="4313196"/>
            <a:ext cx="984882" cy="9396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9950" y="4313196"/>
            <a:ext cx="984882" cy="9396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86062" y="5400607"/>
            <a:ext cx="4648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由</a:t>
            </a:r>
            <a:r>
              <a:rPr lang="en-US" altLang="zh-CN" dirty="0"/>
              <a:t>DEAL_AFTER_SALESSERVICELIST</a:t>
            </a:r>
            <a:r>
              <a:rPr lang="zh-CN" altLang="en-US" dirty="0"/>
              <a:t>，</a:t>
            </a:r>
            <a:r>
              <a:rPr lang="en-US" altLang="zh-CN" dirty="0"/>
              <a:t>DEAL_FEEDBACKLIST</a:t>
            </a:r>
            <a:r>
              <a:rPr lang="zh-CN" altLang="en-US" dirty="0"/>
              <a:t>和</a:t>
            </a:r>
            <a:r>
              <a:rPr lang="en-US" altLang="zh-CN" dirty="0"/>
              <a:t>DEAL_RETURNLSIT</a:t>
            </a:r>
            <a:r>
              <a:rPr lang="zh-CN" altLang="en-US" dirty="0"/>
              <a:t>完成</a:t>
            </a:r>
            <a:endParaRPr lang="zh-CN" altLang="zh-CN" dirty="0"/>
          </a:p>
          <a:p>
            <a:pPr algn="ctr"/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0410" y="2014852"/>
            <a:ext cx="1132048" cy="9396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2583" y="2014852"/>
            <a:ext cx="984882" cy="93960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5752917" y="3088793"/>
            <a:ext cx="6068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由</a:t>
            </a:r>
            <a:r>
              <a:rPr lang="en-US" altLang="zh-CN" dirty="0"/>
              <a:t>CHECK_OUTBOUNDLIST</a:t>
            </a:r>
            <a:r>
              <a:rPr lang="zh-CN" altLang="en-US" dirty="0"/>
              <a:t>，</a:t>
            </a:r>
            <a:r>
              <a:rPr lang="en-US" altLang="zh-CN" dirty="0"/>
              <a:t>CHECKOUTBOUND_DETAIL</a:t>
            </a:r>
            <a:r>
              <a:rPr lang="zh-CN" altLang="en-US" dirty="0"/>
              <a:t>，</a:t>
            </a:r>
            <a:r>
              <a:rPr lang="en-US" altLang="zh-CN" dirty="0"/>
              <a:t>DEAL_OUTBOUNDLIST</a:t>
            </a:r>
            <a:r>
              <a:rPr lang="zh-CN" altLang="en-US" dirty="0"/>
              <a:t>和</a:t>
            </a:r>
            <a:r>
              <a:rPr lang="en-US" altLang="zh-CN" dirty="0"/>
              <a:t>DEALOUTBOUNDLIST_DEATAIL</a:t>
            </a:r>
            <a:r>
              <a:rPr lang="zh-CN" altLang="en-US" dirty="0"/>
              <a:t>完成</a:t>
            </a:r>
            <a:endParaRPr lang="en-US" altLang="zh-CN" dirty="0"/>
          </a:p>
          <a:p>
            <a:pPr algn="ctr"/>
            <a:endParaRPr lang="zh-CN" altLang="en-US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1552" y="4303851"/>
            <a:ext cx="984882" cy="9396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9066" y="4303851"/>
            <a:ext cx="984882" cy="93960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92486" y="4313196"/>
            <a:ext cx="984882" cy="939600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5917362" y="5400607"/>
            <a:ext cx="6068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由</a:t>
            </a:r>
            <a:r>
              <a:rPr lang="en-US" altLang="zh-CN" dirty="0"/>
              <a:t>DEAL_PURCHASE_INFO</a:t>
            </a:r>
            <a:r>
              <a:rPr lang="zh-CN" altLang="en-US" dirty="0"/>
              <a:t>完成</a:t>
            </a:r>
            <a:endParaRPr lang="zh-CN" altLang="zh-CN" dirty="0"/>
          </a:p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844">
        <p159:morph option="byObject"/>
      </p:transition>
    </mc:Choice>
    <mc:Fallback>
      <p:transition spd="med" advTm="45844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5" y="1075055"/>
            <a:ext cx="23932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触发器的建立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87045" y="1822450"/>
            <a:ext cx="11045825" cy="1251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4947218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5.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数据库实施与测试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3245" y="1597025"/>
            <a:ext cx="2179955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04186" y="6385163"/>
            <a:ext cx="10783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第一类触发器建立的代码，主要目的通过整机的组成的零部件清单，自动填充整机本身的价格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856315" y="1655618"/>
            <a:ext cx="630728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create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replace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trigger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cal_price_inf</a:t>
            </a:r>
            <a:endParaRPr lang="en-US" altLang="zh-CN" sz="1800" b="0" i="0" u="none" strike="noStrike" baseline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after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insert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update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on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completeparts</a:t>
            </a:r>
            <a:endParaRPr lang="en-US" altLang="zh-CN" sz="1800" b="0" i="0" u="none" strike="noStrike" baseline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for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each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row</a:t>
            </a:r>
            <a:endParaRPr lang="en-US" altLang="zh-CN" sz="1800" b="0" i="0" u="none" strike="noStrike" baseline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declare</a:t>
            </a:r>
            <a:endParaRPr lang="en-US" altLang="zh-CN" sz="1800" b="0" i="0" u="none" strike="noStrike" baseline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totprice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number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:=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altLang="zh-CN" sz="1800" b="0" i="0" u="none" strike="noStrike" baseline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totsaleprice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number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:=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altLang="zh-CN" sz="1800" b="0" i="0" u="none" strike="noStrike" baseline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begin</a:t>
            </a:r>
            <a:endParaRPr lang="en-US" altLang="zh-CN" sz="1800" b="0" i="0" u="none" strike="noStrike" baseline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select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sum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cpprice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sum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cpsaleprice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endParaRPr lang="en-US" altLang="zh-CN" sz="1800" b="0" i="0" u="none" strike="noStrike" baseline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into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totprice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totsaleprice</a:t>
            </a:r>
            <a:endParaRPr lang="en-US" altLang="zh-CN" sz="1800" b="0" i="0" u="none" strike="noStrike" baseline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from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partindetail</a:t>
            </a:r>
            <a:endParaRPr lang="en-US" altLang="zh-CN" sz="1800" b="0" i="0" u="none" strike="noStrike" baseline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where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INSTR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(: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new.partsid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cpid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&gt;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altLang="zh-CN" sz="1800" b="0" i="0" u="none" strike="noStrike" baseline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update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partindetail</a:t>
            </a:r>
            <a:endParaRPr lang="en-US" altLang="zh-CN" sz="1800" b="0" i="0" u="none" strike="noStrike" baseline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set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cpprice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totprice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endParaRPr lang="en-US" altLang="zh-CN" sz="1800" b="0" i="0" u="none" strike="noStrike" baseline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cpsaleprice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totsaleprice</a:t>
            </a:r>
            <a:endParaRPr lang="en-US" altLang="zh-CN" sz="1800" b="0" i="0" u="none" strike="noStrike" baseline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where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cpid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new.cpid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altLang="zh-CN" sz="1800" b="0" i="0" u="none" strike="noStrike" baseline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CN" sz="1800" b="0" i="0" u="none" strike="noStrike" baseline="0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end</a:t>
            </a:r>
            <a:r>
              <a:rPr lang="en-US" altLang="zh-CN" sz="1800" b="0" i="0" u="none" strike="noStrike" baseline="0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844">
        <p159:morph option="byObject"/>
      </p:transition>
    </mc:Choice>
    <mc:Fallback>
      <p:transition spd="med" advTm="45844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5" y="1075055"/>
            <a:ext cx="23932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触发器的建立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87045" y="1822450"/>
            <a:ext cx="11045825" cy="1251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4947218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5.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数据库实施与测试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3245" y="1597025"/>
            <a:ext cx="2179955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04186" y="6385163"/>
            <a:ext cx="10783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第二类触发器建立的代码，主要目的自动填充表单与金额有关的内容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9236" y="1733490"/>
            <a:ext cx="6087070" cy="198136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9236" y="3803812"/>
            <a:ext cx="5598176" cy="2306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844">
        <p159:morph option="byObject"/>
      </p:transition>
    </mc:Choice>
    <mc:Fallback>
      <p:transition spd="med" advTm="45844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4" y="1075055"/>
            <a:ext cx="278112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数据入库与测试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87045" y="1822450"/>
            <a:ext cx="11045825" cy="1251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4947218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5.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数据库实施与测试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3245" y="1597025"/>
            <a:ext cx="250553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72949" y="1692530"/>
            <a:ext cx="11419643" cy="4932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以分析用户需求为例进行讲解，如图所示，用户的需求有三种表现形式：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订购细则（订购单编号，需求类型，电脑零件编号，电脑零件数量）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订购细则（订购单编号，需求类型，电脑零件类型，性能需求，电脑零件数量）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订购细则（订购单编号，需求类型，电脑零件类型，内核数量，内存插槽数量，读写速度，存储空间，额定功率，电脑零件数量）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 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三种表现形式，主要体现在输入参数的不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同，因此考虑对存储过程进行重载，在处理时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系统根据不同的参数个数，调用同名但实现内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容不同的存储过程，解决不同表现形式的用户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需求。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7028" y="3429000"/>
            <a:ext cx="5329255" cy="31281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844">
        <p159:morph option="byObject"/>
      </p:transition>
    </mc:Choice>
    <mc:Fallback>
      <p:transition spd="med" advTm="45844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4" y="1075055"/>
            <a:ext cx="278112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数据入库与测试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87045" y="1822450"/>
            <a:ext cx="11045825" cy="1251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4947218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5.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数据库实施与测试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3245" y="1597025"/>
            <a:ext cx="250553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87045" y="1987832"/>
            <a:ext cx="11419643" cy="1276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由于需要进行重载，所以需要采取包的结构并进行定义。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如图所示，在包中建立了三个同名但参数不同的存储过程，并在包的主体中分别实现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66" y="3239417"/>
            <a:ext cx="12192000" cy="19935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844">
        <p159:morph option="byObject"/>
      </p:transition>
    </mc:Choice>
    <mc:Fallback>
      <p:transition spd="med" advTm="45844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4" y="1075055"/>
            <a:ext cx="278112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数据入库与测试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87045" y="1822450"/>
            <a:ext cx="11045825" cy="1251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4947218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5.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数据库实施与测试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3245" y="1597025"/>
            <a:ext cx="250553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87045" y="1987832"/>
            <a:ext cx="11419643" cy="870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  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在处理之后，虽然输入的形式不同，但是经过了对应的处理过程后，都化为了相同的输出形式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1211" y="2893152"/>
            <a:ext cx="5077491" cy="36180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844">
        <p159:morph option="byObject"/>
      </p:transition>
    </mc:Choice>
    <mc:Fallback>
      <p:transition spd="med" advTm="45844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08938" y="2717780"/>
            <a:ext cx="6442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总结</a:t>
            </a: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6</a:t>
            </a:r>
            <a:endParaRPr lang="en-US" altLang="zh-CN" sz="8000" b="1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543">
        <p159:morph option="byObject"/>
      </p:transition>
    </mc:Choice>
    <mc:Fallback>
      <p:transition spd="med" advTm="543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6.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总结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63245" y="1587500"/>
            <a:ext cx="1464935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最终结果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6534" y="2786101"/>
            <a:ext cx="1049893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    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对于电脑零件进销存管理系统数据库设计的实现，在需求分析阶段中，针对电脑零件与其他物品的不同之处进行分析，并重点设计了电脑零件在库存状态上的转化，接着经过概念结构设计，逻辑结构设计，物理结构设计等环节，最终构建了一系列的基本表，存储过程，视图，索引等，初步实现了电脑零件进销存管理系统，并且在顾客存在不同种类的需求这一问题上，实现了基本的解决。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502285" y="173990"/>
            <a:ext cx="365061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800" spc="1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defRPr>
            </a:lvl1pPr>
          </a:lstStyle>
          <a:p>
            <a:r>
              <a:rPr lang="en-US" altLang="zh-CN" dirty="0">
                <a:sym typeface="+mn-ea"/>
              </a:rPr>
              <a:t>6.</a:t>
            </a:r>
            <a:r>
              <a:rPr lang="zh-CN" altLang="en-US" dirty="0">
                <a:sym typeface="+mn-ea"/>
              </a:rPr>
              <a:t>总结</a:t>
            </a:r>
            <a:endParaRPr lang="zh-CN" altLang="en-US" dirty="0"/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>
            <p:custDataLst>
              <p:tags r:id="rId5"/>
            </p:custDataLst>
          </p:nvPr>
        </p:nvSpPr>
        <p:spPr>
          <a:xfrm>
            <a:off x="664845" y="1691640"/>
            <a:ext cx="11098530" cy="1630680"/>
          </a:xfrm>
          <a:prstGeom prst="roundRect">
            <a:avLst>
              <a:gd name="adj" fmla="val 6968"/>
            </a:avLst>
          </a:prstGeom>
          <a:solidFill>
            <a:srgbClr val="FFFFFF"/>
          </a:solidFill>
          <a:ln>
            <a:noFill/>
          </a:ln>
          <a:effectLst>
            <a:outerShdw blurRad="254000" algn="ctr" rotWithShape="0">
              <a:schemeClr val="accent1">
                <a:alpha val="1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pitchFamily="34" charset="0"/>
              <a:ea typeface="微软雅黑 Light" panose="020B0502040204020203" charset="-122"/>
              <a:cs typeface="+mn-cs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817245" y="2497455"/>
            <a:ext cx="10891520" cy="65151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由于在编写数据字典等前期内容时，没有进行全面的思考，在可行性上也欠缺考量，导致后期在将</a:t>
            </a:r>
            <a:r>
              <a:rPr lang="en-US" altLang="zh-CN" sz="16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E-R</a:t>
            </a:r>
            <a:r>
              <a:rPr lang="zh-CN" altLang="en-US" sz="16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图转化为关系模式和编写存储过程中，不得不对原有内容进行修改，使整体效率降低</a:t>
            </a:r>
            <a:endParaRPr lang="en-US" altLang="zh-CN" sz="16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817244" y="2145665"/>
            <a:ext cx="7052138" cy="30416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Calibri" panose="020F0502020204030204" charset="0"/>
                <a:ea typeface="微软雅黑" panose="020B0503020204020204" charset="-122"/>
              </a:rPr>
              <a:t>前期工作</a:t>
            </a:r>
            <a:r>
              <a:rPr lang="zh-CN" altLang="en-US" b="1">
                <a:latin typeface="Calibri" panose="020F0502020204030204" charset="0"/>
                <a:ea typeface="微软雅黑" panose="020B0503020204020204" charset="-122"/>
              </a:rPr>
              <a:t>的完成不够</a:t>
            </a:r>
            <a:r>
              <a:rPr lang="zh-CN" altLang="en-US" b="1" dirty="0">
                <a:latin typeface="Calibri" panose="020F0502020204030204" charset="0"/>
                <a:ea typeface="微软雅黑" panose="020B0503020204020204" charset="-122"/>
              </a:rPr>
              <a:t>完善</a:t>
            </a:r>
            <a:endParaRPr lang="zh-CN" altLang="en-US" b="1" dirty="0">
              <a:latin typeface="Calibri" panose="020F0502020204030204" charset="0"/>
              <a:ea typeface="微软雅黑" panose="020B0503020204020204" charset="-122"/>
            </a:endParaRPr>
          </a:p>
        </p:txBody>
      </p:sp>
      <p:sp>
        <p:nvSpPr>
          <p:cNvPr id="22" name="矩形: 圆角 21"/>
          <p:cNvSpPr/>
          <p:nvPr>
            <p:custDataLst>
              <p:tags r:id="rId8"/>
            </p:custDataLst>
          </p:nvPr>
        </p:nvSpPr>
        <p:spPr>
          <a:xfrm>
            <a:off x="666432" y="3401059"/>
            <a:ext cx="11097260" cy="1367155"/>
          </a:xfrm>
          <a:prstGeom prst="roundRect">
            <a:avLst>
              <a:gd name="adj" fmla="val 6968"/>
            </a:avLst>
          </a:prstGeom>
          <a:solidFill>
            <a:srgbClr val="FFFFFF"/>
          </a:solidFill>
          <a:ln>
            <a:noFill/>
          </a:ln>
          <a:effectLst>
            <a:outerShdw blurRad="254000" algn="ctr" rotWithShape="0">
              <a:schemeClr val="accent1">
                <a:alpha val="1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pitchFamily="34" charset="0"/>
              <a:ea typeface="微软雅黑 Light" panose="020B0502040204020203" charset="-122"/>
              <a:cs typeface="+mn-cs"/>
            </a:endParaRPr>
          </a:p>
        </p:txBody>
      </p:sp>
      <p:sp>
        <p:nvSpPr>
          <p:cNvPr id="23" name="矩形 22"/>
          <p:cNvSpPr/>
          <p:nvPr>
            <p:custDataLst>
              <p:tags r:id="rId9"/>
            </p:custDataLst>
          </p:nvPr>
        </p:nvSpPr>
        <p:spPr>
          <a:xfrm>
            <a:off x="904557" y="4243069"/>
            <a:ext cx="10302875" cy="25527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latin typeface="华文中宋" panose="02010600040101010101" charset="-122"/>
                <a:ea typeface="华文中宋" panose="02010600040101010101" charset="-122"/>
              </a:rPr>
              <a:t>目前视图能够展现的内容和功能过于简单，应加入可查询限定日期的数据等功能</a:t>
            </a:r>
            <a:endParaRPr lang="en-US" altLang="zh-CN" sz="16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891857" y="3893184"/>
            <a:ext cx="4806950" cy="25654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Calibri" panose="020F0502020204030204" charset="0"/>
                <a:ea typeface="微软雅黑" panose="020B0503020204020204" charset="-122"/>
              </a:rPr>
              <a:t>视图、触发器等的设计简单</a:t>
            </a:r>
            <a:endParaRPr lang="en-US" altLang="zh-CN" b="1" dirty="0">
              <a:solidFill>
                <a:schemeClr val="accent1"/>
              </a:solidFill>
              <a:latin typeface="Calibri" panose="020F0502020204030204" charset="0"/>
              <a:ea typeface="微软雅黑" panose="020B0503020204020204" charset="-122"/>
            </a:endParaRPr>
          </a:p>
        </p:txBody>
      </p:sp>
      <p:sp>
        <p:nvSpPr>
          <p:cNvPr id="29" name="矩形: 圆角 28"/>
          <p:cNvSpPr/>
          <p:nvPr>
            <p:custDataLst>
              <p:tags r:id="rId11"/>
            </p:custDataLst>
          </p:nvPr>
        </p:nvSpPr>
        <p:spPr>
          <a:xfrm>
            <a:off x="664845" y="4811713"/>
            <a:ext cx="11099165" cy="1849754"/>
          </a:xfrm>
          <a:prstGeom prst="roundRect">
            <a:avLst>
              <a:gd name="adj" fmla="val 6968"/>
            </a:avLst>
          </a:prstGeom>
          <a:solidFill>
            <a:srgbClr val="FFFFFF"/>
          </a:solidFill>
          <a:ln>
            <a:noFill/>
          </a:ln>
          <a:effectLst>
            <a:outerShdw blurRad="254000" algn="ctr" rotWithShape="0">
              <a:schemeClr val="accent1">
                <a:alpha val="1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pitchFamily="34" charset="0"/>
              <a:ea typeface="微软雅黑 Light" panose="020B0502040204020203" charset="-122"/>
              <a:cs typeface="+mn-cs"/>
            </a:endParaRPr>
          </a:p>
        </p:txBody>
      </p:sp>
      <p:sp>
        <p:nvSpPr>
          <p:cNvPr id="30" name="矩形 29"/>
          <p:cNvSpPr/>
          <p:nvPr>
            <p:custDataLst>
              <p:tags r:id="rId12"/>
            </p:custDataLst>
          </p:nvPr>
        </p:nvSpPr>
        <p:spPr>
          <a:xfrm>
            <a:off x="904240" y="5689282"/>
            <a:ext cx="10541000" cy="8578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latin typeface="华文中宋" panose="02010600040101010101" charset="-122"/>
                <a:ea typeface="华文中宋" panose="02010600040101010101" charset="-122"/>
              </a:rPr>
              <a:t>由于实现难度和时间安排等原因，在实现数据库功能时，实际上将原有的目标简化了许多，离一个成熟完善的数据库仍有较大的距离</a:t>
            </a:r>
            <a:endParaRPr lang="zh-CN" altLang="en-US" sz="16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1" name="矩形 30"/>
          <p:cNvSpPr/>
          <p:nvPr>
            <p:custDataLst>
              <p:tags r:id="rId13"/>
            </p:custDataLst>
          </p:nvPr>
        </p:nvSpPr>
        <p:spPr>
          <a:xfrm>
            <a:off x="904240" y="5324792"/>
            <a:ext cx="4184015" cy="32829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Calibri" panose="020F0502020204030204" charset="0"/>
                <a:ea typeface="微软雅黑" panose="020B0503020204020204" charset="-122"/>
              </a:rPr>
              <a:t>数据库整体实现过于简化</a:t>
            </a:r>
            <a:endParaRPr lang="en-US" altLang="zh-CN" b="1" dirty="0">
              <a:solidFill>
                <a:schemeClr val="accent1"/>
              </a:solidFill>
              <a:latin typeface="Calibri" panose="020F0502020204030204" charset="0"/>
              <a:ea typeface="微软雅黑" panose="020B0503020204020204" charset="-122"/>
            </a:endParaRPr>
          </a:p>
        </p:txBody>
      </p:sp>
      <p:sp>
        <p:nvSpPr>
          <p:cNvPr id="35" name="文本框 34" descr="章节序号1"/>
          <p:cNvSpPr txBox="1"/>
          <p:nvPr>
            <p:custDataLst>
              <p:tags r:id="rId14"/>
            </p:custDataLst>
          </p:nvPr>
        </p:nvSpPr>
        <p:spPr>
          <a:xfrm>
            <a:off x="904240" y="4811712"/>
            <a:ext cx="822325" cy="5734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>
              <a:defRPr sz="5400" b="1">
                <a:solidFill>
                  <a:srgbClr val="526A8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charset="0"/>
              </a:rPr>
              <a:t>03</a:t>
            </a:r>
            <a:endParaRPr lang="zh-CN" alt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charset="0"/>
            </a:endParaRPr>
          </a:p>
        </p:txBody>
      </p:sp>
      <p:sp>
        <p:nvSpPr>
          <p:cNvPr id="38" name="文本框 37" descr="章节序号1"/>
          <p:cNvSpPr txBox="1"/>
          <p:nvPr>
            <p:custDataLst>
              <p:tags r:id="rId15"/>
            </p:custDataLst>
          </p:nvPr>
        </p:nvSpPr>
        <p:spPr>
          <a:xfrm>
            <a:off x="845185" y="1612265"/>
            <a:ext cx="1495425" cy="533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>
              <a:defRPr sz="5400" b="1">
                <a:solidFill>
                  <a:srgbClr val="526A8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charset="0"/>
              </a:rPr>
              <a:t>01</a:t>
            </a:r>
            <a:endParaRPr lang="zh-CN" alt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charset="0"/>
            </a:endParaRPr>
          </a:p>
        </p:txBody>
      </p:sp>
      <p:sp>
        <p:nvSpPr>
          <p:cNvPr id="39" name="文本框 38" descr="章节序号1"/>
          <p:cNvSpPr txBox="1"/>
          <p:nvPr>
            <p:custDataLst>
              <p:tags r:id="rId16"/>
            </p:custDataLst>
          </p:nvPr>
        </p:nvSpPr>
        <p:spPr>
          <a:xfrm>
            <a:off x="882967" y="3350259"/>
            <a:ext cx="747395" cy="44958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>
              <a:defRPr sz="5400" b="1">
                <a:solidFill>
                  <a:srgbClr val="526A8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charset="0"/>
              </a:rPr>
              <a:t>02</a:t>
            </a:r>
            <a:endParaRPr lang="zh-CN" alt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563245" y="1587500"/>
            <a:ext cx="1389308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Id17"/>
            </p:custDataLst>
          </p:nvPr>
        </p:nvSpPr>
        <p:spPr>
          <a:xfrm>
            <a:off x="487045" y="1065530"/>
            <a:ext cx="1609887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存在不足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/>
      <p:bldP spid="6" grpId="1"/>
      <p:bldP spid="7" grpId="0"/>
      <p:bldP spid="7" grpId="1"/>
      <p:bldP spid="22" grpId="0" animBg="1"/>
      <p:bldP spid="22" grpId="1" animBg="1"/>
      <p:bldP spid="23" grpId="0"/>
      <p:bldP spid="23" grpId="1"/>
      <p:bldP spid="24" grpId="0"/>
      <p:bldP spid="24" grpId="1"/>
      <p:bldP spid="29" grpId="0" animBg="1"/>
      <p:bldP spid="29" grpId="1" animBg="1"/>
      <p:bldP spid="30" grpId="0"/>
      <p:bldP spid="30" grpId="1"/>
      <p:bldP spid="31" grpId="0"/>
      <p:bldP spid="31" grpId="1"/>
      <p:bldP spid="35" grpId="0"/>
      <p:bldP spid="35" grpId="1"/>
      <p:bldP spid="38" grpId="0"/>
      <p:bldP spid="39" grpId="0"/>
      <p:bldP spid="39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211034" cy="6858000"/>
          </a:xfrm>
          <a:prstGeom prst="rect">
            <a:avLst/>
          </a:prstGeom>
          <a:gradFill>
            <a:gsLst>
              <a:gs pos="35000">
                <a:srgbClr val="479F72">
                  <a:alpha val="90000"/>
                </a:srgbClr>
              </a:gs>
              <a:gs pos="100000">
                <a:srgbClr val="35823C">
                  <a:alpha val="0"/>
                </a:srgbClr>
              </a:gs>
              <a:gs pos="0">
                <a:srgbClr val="479F72"/>
              </a:gs>
            </a:gsLst>
            <a:lin ang="0" scaled="1"/>
          </a:gradFill>
          <a:ln>
            <a:noFill/>
          </a:ln>
        </p:spPr>
        <p:style>
          <a:lnRef idx="2">
            <a:srgbClr val="86C131">
              <a:shade val="50000"/>
            </a:srgbClr>
          </a:lnRef>
          <a:fillRef idx="1">
            <a:srgbClr val="86C131"/>
          </a:fillRef>
          <a:effectRef idx="0">
            <a:srgbClr val="86C131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4" name="矩形 63"/>
          <p:cNvSpPr/>
          <p:nvPr>
            <p:custDataLst>
              <p:tags r:id="rId1"/>
            </p:custDataLst>
          </p:nvPr>
        </p:nvSpPr>
        <p:spPr>
          <a:xfrm>
            <a:off x="0" y="0"/>
            <a:ext cx="12192635" cy="6857365"/>
          </a:xfrm>
          <a:prstGeom prst="rect">
            <a:avLst/>
          </a:prstGeom>
          <a:solidFill>
            <a:srgbClr val="1A6A4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2150110" y="1676400"/>
            <a:ext cx="7910830" cy="3349625"/>
          </a:xfrm>
          <a:prstGeom prst="roundRect">
            <a:avLst/>
          </a:prstGeom>
          <a:solidFill>
            <a:srgbClr val="FFFDF5"/>
          </a:solidFill>
          <a:ln>
            <a:noFill/>
          </a:ln>
          <a:effectLst>
            <a:outerShdw blurRad="127000" dist="38100" dir="2700000" sx="101000" sy="101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2761615" y="2612390"/>
            <a:ext cx="668782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spc="200">
                <a:solidFill>
                  <a:srgbClr val="2E461C"/>
                </a:solidFill>
                <a:uFillTx/>
                <a:latin typeface="华文中宋" panose="02010600040101010101" charset="-122"/>
                <a:ea typeface="华文中宋" panose="02010600040101010101" charset="-122"/>
              </a:rPr>
              <a:t>请老师批评指正！</a:t>
            </a:r>
            <a:endParaRPr lang="zh-CN" altLang="en-US" sz="6600" spc="200">
              <a:solidFill>
                <a:srgbClr val="2E461C"/>
              </a:solidFill>
              <a:uFillTx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128">
        <p159:morph option="byObject"/>
      </p:transition>
    </mc:Choice>
    <mc:Fallback>
      <p:transition spd="med" advTm="112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8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9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10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1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2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3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4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17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18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19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20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21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22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23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24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25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DIAGRAM_VIRTUALLY_FRAME" val="{&quot;height&quot;:352.12952755905513,&quot;left&quot;:71.53196850393701,&quot;top&quot;:123.87047244094488,&quot;width&quot;:819.4679527559053}"/>
</p:tagLst>
</file>

<file path=ppt/tags/tag162.xml><?xml version="1.0" encoding="utf-8"?>
<p:tagLst xmlns:p="http://schemas.openxmlformats.org/presentationml/2006/main">
  <p:tag name="KSO_WM_DIAGRAM_VIRTUALLY_FRAME" val="{&quot;height&quot;:352.12952755905513,&quot;left&quot;:71.53196850393701,&quot;top&quot;:123.87047244094488,&quot;width&quot;:819.4679527559053}"/>
</p:tagLst>
</file>

<file path=ppt/tags/tag163.xml><?xml version="1.0" encoding="utf-8"?>
<p:tagLst xmlns:p="http://schemas.openxmlformats.org/presentationml/2006/main">
  <p:tag name="KSO_WM_DIAGRAM_VIRTUALLY_FRAME" val="{&quot;height&quot;:393.95,&quot;left&quot;:59.05,&quot;top&quot;:82.05,&quot;width&quot;:831.9499212598424}"/>
</p:tagLst>
</file>

<file path=ppt/tags/tag164.xml><?xml version="1.0" encoding="utf-8"?>
<p:tagLst xmlns:p="http://schemas.openxmlformats.org/presentationml/2006/main">
  <p:tag name="KSO_WM_DIAGRAM_VIRTUALLY_FRAME" val="{&quot;height&quot;:352.12952755905513,&quot;left&quot;:71.53196850393701,&quot;top&quot;:123.87047244094488,&quot;width&quot;:819.4679527559053}"/>
</p:tagLst>
</file>

<file path=ppt/tags/tag165.xml><?xml version="1.0" encoding="utf-8"?>
<p:tagLst xmlns:p="http://schemas.openxmlformats.org/presentationml/2006/main">
  <p:tag name="KSO_WM_DIAGRAM_VIRTUALLY_FRAME" val="{&quot;height&quot;:352.12952755905513,&quot;left&quot;:71.53196850393701,&quot;top&quot;:123.87047244094488,&quot;width&quot;:819.4679527559053}"/>
</p:tagLst>
</file>

<file path=ppt/tags/tag166.xml><?xml version="1.0" encoding="utf-8"?>
<p:tagLst xmlns:p="http://schemas.openxmlformats.org/presentationml/2006/main">
  <p:tag name="KSO_WM_DIAGRAM_VIRTUALLY_FRAME" val="{&quot;height&quot;:393.95,&quot;left&quot;:59.05,&quot;top&quot;:82.05,&quot;width&quot;:831.9499212598424}"/>
</p:tagLst>
</file>

<file path=ppt/tags/tag167.xml><?xml version="1.0" encoding="utf-8"?>
<p:tagLst xmlns:p="http://schemas.openxmlformats.org/presentationml/2006/main">
  <p:tag name="KSO_WM_DIAGRAM_VIRTUALLY_FRAME" val="{&quot;height&quot;:352.12952755905513,&quot;left&quot;:71.53196850393701,&quot;top&quot;:123.87047244094488,&quot;width&quot;:819.4679527559053}"/>
</p:tagLst>
</file>

<file path=ppt/tags/tag168.xml><?xml version="1.0" encoding="utf-8"?>
<p:tagLst xmlns:p="http://schemas.openxmlformats.org/presentationml/2006/main">
  <p:tag name="KSO_WM_DIAGRAM_VIRTUALLY_FRAME" val="{&quot;height&quot;:352.12952755905513,&quot;left&quot;:71.53196850393701,&quot;top&quot;:123.87047244094488,&quot;width&quot;:819.4679527559053}"/>
</p:tagLst>
</file>

<file path=ppt/tags/tag169.xml><?xml version="1.0" encoding="utf-8"?>
<p:tagLst xmlns:p="http://schemas.openxmlformats.org/presentationml/2006/main">
  <p:tag name="KSO_WM_DIAGRAM_VIRTUALLY_FRAME" val="{&quot;height&quot;:393.95,&quot;left&quot;:59.05,&quot;top&quot;:82.05,&quot;width&quot;:831.9499212598424}"/>
</p:tagLst>
</file>

<file path=ppt/tags/tag170.xml><?xml version="1.0" encoding="utf-8"?>
<p:tagLst xmlns:p="http://schemas.openxmlformats.org/presentationml/2006/main">
  <p:tag name="KSO_WM_DIAGRAM_VIRTUALLY_FRAME" val="{&quot;height&quot;:393.95,&quot;left&quot;:59.05,&quot;top&quot;:82.05,&quot;width&quot;:831.9499212598424}"/>
</p:tagLst>
</file>

<file path=ppt/tags/tag171.xml><?xml version="1.0" encoding="utf-8"?>
<p:tagLst xmlns:p="http://schemas.openxmlformats.org/presentationml/2006/main">
  <p:tag name="KSO_WM_DIAGRAM_VIRTUALLY_FRAME" val="{&quot;height&quot;:393.95,&quot;left&quot;:59.05,&quot;top&quot;:82.05,&quot;width&quot;:831.9499212598424}"/>
</p:tagLst>
</file>

<file path=ppt/tags/tag172.xml><?xml version="1.0" encoding="utf-8"?>
<p:tagLst xmlns:p="http://schemas.openxmlformats.org/presentationml/2006/main">
  <p:tag name="KSO_WM_DIAGRAM_VIRTUALLY_FRAME" val="{&quot;height&quot;:393.95,&quot;left&quot;:59.05,&quot;top&quot;:82.05,&quot;width&quot;:831.9499212598424}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PP_MARK_KEY" val="5ac09484-6d2c-4b80-be6e-a0ee2c1e6d77"/>
  <p:tag name="COMMONDATA" val="eyJoZGlkIjoiODQ5MzlmNzBjOTM2YzJmM2YwMTQyYmQzZjY3MzY0NDA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4545</Words>
  <Application>WPS 演示</Application>
  <PresentationFormat>宽屏</PresentationFormat>
  <Paragraphs>470</Paragraphs>
  <Slides>44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7" baseType="lpstr">
      <vt:lpstr>Arial</vt:lpstr>
      <vt:lpstr>宋体</vt:lpstr>
      <vt:lpstr>Wingdings</vt:lpstr>
      <vt:lpstr>微软雅黑</vt:lpstr>
      <vt:lpstr>黑体</vt:lpstr>
      <vt:lpstr>华文中宋</vt:lpstr>
      <vt:lpstr>Calibri</vt:lpstr>
      <vt:lpstr>Arial Unicode MS</vt:lpstr>
      <vt:lpstr>Courier New</vt:lpstr>
      <vt:lpstr>Open Sans</vt:lpstr>
      <vt:lpstr>微软雅黑 Light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7490</dc:creator>
  <cp:lastModifiedBy>郑瑾</cp:lastModifiedBy>
  <cp:revision>73</cp:revision>
  <dcterms:created xsi:type="dcterms:W3CDTF">2023-05-15T12:02:00Z</dcterms:created>
  <dcterms:modified xsi:type="dcterms:W3CDTF">2026-04-20T15:17:46Z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678E0F76A9604F3D83F0C4F9FF64918D_12</vt:lpwstr>
  </property>
  <property fmtid="{D5CDD505-2E9C-101B-9397-08002B2CF9AE}" pid="3" name="KSOProductBuildVer">
    <vt:lpwstr>2052-12.1.0.24034</vt:lpwstr>
  </property>
</Properties>
</file>