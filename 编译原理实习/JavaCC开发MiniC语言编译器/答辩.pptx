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9" r:id="rId3"/>
    <p:sldId id="258" r:id="rId5"/>
    <p:sldId id="266" r:id="rId6"/>
    <p:sldId id="262" r:id="rId7"/>
    <p:sldId id="364" r:id="rId8"/>
    <p:sldId id="349" r:id="rId9"/>
    <p:sldId id="365" r:id="rId10"/>
    <p:sldId id="403" r:id="rId11"/>
    <p:sldId id="366" r:id="rId12"/>
    <p:sldId id="367" r:id="rId13"/>
    <p:sldId id="368" r:id="rId14"/>
    <p:sldId id="369" r:id="rId15"/>
    <p:sldId id="370" r:id="rId16"/>
    <p:sldId id="371" r:id="rId17"/>
    <p:sldId id="308" r:id="rId18"/>
    <p:sldId id="372" r:id="rId19"/>
    <p:sldId id="351" r:id="rId20"/>
    <p:sldId id="373" r:id="rId21"/>
    <p:sldId id="374" r:id="rId22"/>
    <p:sldId id="375" r:id="rId23"/>
    <p:sldId id="376" r:id="rId24"/>
    <p:sldId id="377" r:id="rId25"/>
    <p:sldId id="385" r:id="rId26"/>
    <p:sldId id="386" r:id="rId27"/>
    <p:sldId id="387" r:id="rId28"/>
    <p:sldId id="388" r:id="rId29"/>
    <p:sldId id="383" r:id="rId30"/>
    <p:sldId id="389" r:id="rId31"/>
    <p:sldId id="390" r:id="rId32"/>
    <p:sldId id="391" r:id="rId33"/>
    <p:sldId id="333" r:id="rId34"/>
    <p:sldId id="354" r:id="rId35"/>
    <p:sldId id="392" r:id="rId36"/>
    <p:sldId id="393" r:id="rId37"/>
    <p:sldId id="394" r:id="rId38"/>
    <p:sldId id="395" r:id="rId39"/>
    <p:sldId id="396" r:id="rId40"/>
    <p:sldId id="399" r:id="rId41"/>
    <p:sldId id="355" r:id="rId42"/>
    <p:sldId id="400" r:id="rId43"/>
    <p:sldId id="401" r:id="rId44"/>
    <p:sldId id="402" r:id="rId45"/>
    <p:sldId id="264" r:id="rId46"/>
  </p:sldIdLst>
  <p:sldSz cx="12192000" cy="6858000"/>
  <p:notesSz cx="6858000" cy="9144000"/>
  <p:custDataLst>
    <p:tags r:id="rId5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哒哒 熊猫" initials="哒哒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AD54"/>
    <a:srgbClr val="1A6A40"/>
    <a:srgbClr val="FFFDF5"/>
    <a:srgbClr val="20824E"/>
    <a:srgbClr val="C5E0B4"/>
    <a:srgbClr val="F3BC15"/>
    <a:srgbClr val="2E461C"/>
    <a:srgbClr val="C1DFAE"/>
    <a:srgbClr val="F5FAF1"/>
    <a:srgbClr val="6DA8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4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68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1" Type="http://schemas.openxmlformats.org/officeDocument/2006/relationships/tags" Target="tags/tag155.xml"/><Relationship Id="rId50" Type="http://schemas.openxmlformats.org/officeDocument/2006/relationships/commentAuthors" Target="commentAuthors.xml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/>
          <a:srcRect l="17523" t="18435" r="12988"/>
          <a:stretch>
            <a:fillRect/>
          </a:stretch>
        </p:blipFill>
        <p:spPr>
          <a:xfrm>
            <a:off x="0" y="-1"/>
            <a:ext cx="12192001" cy="6858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3.png"/><Relationship Id="rId2" Type="http://schemas.openxmlformats.org/officeDocument/2006/relationships/tags" Target="../tags/tag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24.xml"/><Relationship Id="rId20" Type="http://schemas.openxmlformats.org/officeDocument/2006/relationships/tags" Target="../tags/tag23.xml"/><Relationship Id="rId2" Type="http://schemas.openxmlformats.org/officeDocument/2006/relationships/tags" Target="../tags/tag6.xml"/><Relationship Id="rId19" Type="http://schemas.openxmlformats.org/officeDocument/2006/relationships/tags" Target="../tags/tag22.xml"/><Relationship Id="rId18" Type="http://schemas.openxmlformats.org/officeDocument/2006/relationships/tags" Target="../tags/tag21.xml"/><Relationship Id="rId17" Type="http://schemas.openxmlformats.org/officeDocument/2006/relationships/tags" Target="../tags/tag20.xml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image" Target="../media/image3.png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9.xml"/><Relationship Id="rId3" Type="http://schemas.openxmlformats.org/officeDocument/2006/relationships/image" Target="../media/image3.png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ags" Target="../tags/tag32.xml"/><Relationship Id="rId3" Type="http://schemas.openxmlformats.org/officeDocument/2006/relationships/image" Target="../media/image3.png"/><Relationship Id="rId2" Type="http://schemas.openxmlformats.org/officeDocument/2006/relationships/tags" Target="../tags/tag31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30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37.xml"/><Relationship Id="rId3" Type="http://schemas.openxmlformats.org/officeDocument/2006/relationships/image" Target="../media/image3.png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40.xml"/><Relationship Id="rId3" Type="http://schemas.openxmlformats.org/officeDocument/2006/relationships/image" Target="../media/image3.png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tags" Target="../tags/tag43.xml"/><Relationship Id="rId3" Type="http://schemas.openxmlformats.org/officeDocument/2006/relationships/image" Target="../media/image3.png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tags" Target="../tags/tag46.xml"/><Relationship Id="rId3" Type="http://schemas.openxmlformats.org/officeDocument/2006/relationships/image" Target="../media/image3.png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tags" Target="../tags/tag49.xml"/><Relationship Id="rId3" Type="http://schemas.openxmlformats.org/officeDocument/2006/relationships/image" Target="../media/image3.png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tags" Target="../tags/tag52.xml"/><Relationship Id="rId3" Type="http://schemas.openxmlformats.org/officeDocument/2006/relationships/image" Target="../media/image3.png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tags" Target="../tags/tag55.xml"/><Relationship Id="rId3" Type="http://schemas.openxmlformats.org/officeDocument/2006/relationships/image" Target="../media/image3.png"/><Relationship Id="rId2" Type="http://schemas.openxmlformats.org/officeDocument/2006/relationships/tags" Target="../tags/tag54.xml"/><Relationship Id="rId1" Type="http://schemas.openxmlformats.org/officeDocument/2006/relationships/tags" Target="../tags/tag53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tags" Target="../tags/tag58.xml"/><Relationship Id="rId3" Type="http://schemas.openxmlformats.org/officeDocument/2006/relationships/image" Target="../media/image3.png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60.xml"/><Relationship Id="rId1" Type="http://schemas.openxmlformats.org/officeDocument/2006/relationships/tags" Target="../tags/tag59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63.xml"/><Relationship Id="rId3" Type="http://schemas.openxmlformats.org/officeDocument/2006/relationships/image" Target="../media/image3.png"/><Relationship Id="rId2" Type="http://schemas.openxmlformats.org/officeDocument/2006/relationships/tags" Target="../tags/tag62.xml"/><Relationship Id="rId1" Type="http://schemas.openxmlformats.org/officeDocument/2006/relationships/tags" Target="../tags/tag61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66.xml"/><Relationship Id="rId3" Type="http://schemas.openxmlformats.org/officeDocument/2006/relationships/image" Target="../media/image3.png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tags" Target="../tags/tag69.xml"/><Relationship Id="rId3" Type="http://schemas.openxmlformats.org/officeDocument/2006/relationships/image" Target="../media/image3.png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72.xml"/><Relationship Id="rId4" Type="http://schemas.openxmlformats.org/officeDocument/2006/relationships/image" Target="../media/image3.png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75.xml"/><Relationship Id="rId4" Type="http://schemas.openxmlformats.org/officeDocument/2006/relationships/image" Target="../media/image3.png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78.xml"/><Relationship Id="rId4" Type="http://schemas.openxmlformats.org/officeDocument/2006/relationships/image" Target="../media/image3.png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81.xml"/><Relationship Id="rId4" Type="http://schemas.openxmlformats.org/officeDocument/2006/relationships/image" Target="../media/image3.png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84.xml"/><Relationship Id="rId4" Type="http://schemas.openxmlformats.org/officeDocument/2006/relationships/image" Target="../media/image3.png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87.xml"/><Relationship Id="rId5" Type="http://schemas.openxmlformats.org/officeDocument/2006/relationships/image" Target="../media/image3.png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90.xml"/><Relationship Id="rId4" Type="http://schemas.openxmlformats.org/officeDocument/2006/relationships/image" Target="../media/image3.png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95.xml"/><Relationship Id="rId3" Type="http://schemas.openxmlformats.org/officeDocument/2006/relationships/image" Target="../media/image3.png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3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image" Target="../media/image3.png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image" Target="../media/image3.png"/><Relationship Id="rId2" Type="http://schemas.openxmlformats.org/officeDocument/2006/relationships/tags" Target="../tags/tag101.xml"/><Relationship Id="rId10" Type="http://schemas.openxmlformats.org/officeDocument/2006/relationships/notesSlide" Target="../notesSlides/notesSlide24.xml"/><Relationship Id="rId1" Type="http://schemas.openxmlformats.org/officeDocument/2006/relationships/tags" Target="../tags/tag100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5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image" Target="../media/image3.png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6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image" Target="../media/image3.png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7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tags" Target="../tags/tag117.xml"/><Relationship Id="rId4" Type="http://schemas.openxmlformats.org/officeDocument/2006/relationships/image" Target="../media/image3.png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8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5.png"/><Relationship Id="rId6" Type="http://schemas.openxmlformats.org/officeDocument/2006/relationships/image" Target="../media/image34.png"/><Relationship Id="rId5" Type="http://schemas.openxmlformats.org/officeDocument/2006/relationships/tags" Target="../tags/tag121.xml"/><Relationship Id="rId4" Type="http://schemas.openxmlformats.org/officeDocument/2006/relationships/image" Target="../media/image3.png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9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7.png"/><Relationship Id="rId6" Type="http://schemas.openxmlformats.org/officeDocument/2006/relationships/image" Target="../media/image36.png"/><Relationship Id="rId5" Type="http://schemas.openxmlformats.org/officeDocument/2006/relationships/tags" Target="../tags/tag125.xml"/><Relationship Id="rId4" Type="http://schemas.openxmlformats.org/officeDocument/2006/relationships/image" Target="../media/image3.png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0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9.png"/><Relationship Id="rId6" Type="http://schemas.openxmlformats.org/officeDocument/2006/relationships/image" Target="../media/image38.png"/><Relationship Id="rId5" Type="http://schemas.openxmlformats.org/officeDocument/2006/relationships/tags" Target="../tags/tag129.xml"/><Relationship Id="rId4" Type="http://schemas.openxmlformats.org/officeDocument/2006/relationships/image" Target="../media/image3.png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image" Target="../media/image42.png"/><Relationship Id="rId7" Type="http://schemas.openxmlformats.org/officeDocument/2006/relationships/image" Target="../media/image41.png"/><Relationship Id="rId6" Type="http://schemas.openxmlformats.org/officeDocument/2006/relationships/image" Target="../media/image40.png"/><Relationship Id="rId5" Type="http://schemas.openxmlformats.org/officeDocument/2006/relationships/tags" Target="../tags/tag133.xml"/><Relationship Id="rId4" Type="http://schemas.openxmlformats.org/officeDocument/2006/relationships/image" Target="../media/image3.png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1" Type="http://schemas.openxmlformats.org/officeDocument/2006/relationships/notesSlide" Target="../notesSlides/notesSlide31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30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2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image" Target="../media/image3.png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3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image" Target="../media/image3.png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4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tags" Target="../tags/tag147.xml"/><Relationship Id="rId4" Type="http://schemas.openxmlformats.org/officeDocument/2006/relationships/tags" Target="../tags/tag146.xml"/><Relationship Id="rId3" Type="http://schemas.openxmlformats.org/officeDocument/2006/relationships/image" Target="../media/image3.png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5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tags" Target="../tags/tag151.xml"/><Relationship Id="rId4" Type="http://schemas.openxmlformats.org/officeDocument/2006/relationships/image" Target="../media/image3.png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54.xml"/><Relationship Id="rId3" Type="http://schemas.openxmlformats.org/officeDocument/2006/relationships/image" Target="../media/image3.png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62"/>
            <a:ext cx="12231334" cy="6857999"/>
          </a:xfrm>
          <a:prstGeom prst="rect">
            <a:avLst/>
          </a:prstGeom>
        </p:spPr>
      </p:pic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65" name="文本框 64"/>
          <p:cNvSpPr txBox="1"/>
          <p:nvPr>
            <p:custDataLst>
              <p:tags r:id="rId4"/>
            </p:custDataLst>
          </p:nvPr>
        </p:nvSpPr>
        <p:spPr>
          <a:xfrm>
            <a:off x="1393190" y="6233795"/>
            <a:ext cx="9404985" cy="3867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pc="100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NORTHWEST A&amp;F UNIVERSITY</a:t>
            </a:r>
            <a:endParaRPr lang="en-US" spc="1000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174260" y="-96520"/>
            <a:ext cx="758124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00206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0"/>
            <a:ext cx="1221103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gradFill>
                  <a:gsLst>
                    <a:gs pos="35000">
                      <a:srgbClr val="479F72">
                        <a:alpha val="90000"/>
                      </a:srgbClr>
                    </a:gs>
                    <a:gs pos="100000">
                      <a:srgbClr val="35823C">
                        <a:alpha val="0"/>
                      </a:srgbClr>
                    </a:gs>
                    <a:gs pos="0">
                      <a:srgbClr val="479F72"/>
                    </a:gs>
                  </a:gsLst>
                  <a:lin ang="0" scaled="1"/>
                </a:gra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6040" y="-10018"/>
            <a:ext cx="12211034" cy="6858000"/>
          </a:xfrm>
          <a:prstGeom prst="rect">
            <a:avLst/>
          </a:prstGeom>
          <a:gradFill>
            <a:gsLst>
              <a:gs pos="35000">
                <a:srgbClr val="479F72">
                  <a:alpha val="90000"/>
                </a:srgbClr>
              </a:gs>
              <a:gs pos="100000">
                <a:srgbClr val="35823C">
                  <a:alpha val="0"/>
                </a:srgbClr>
              </a:gs>
              <a:gs pos="0">
                <a:srgbClr val="479F72"/>
              </a:gs>
            </a:gsLst>
            <a:lin ang="0" scaled="1"/>
          </a:gradFill>
          <a:ln>
            <a:noFill/>
          </a:ln>
        </p:spPr>
        <p:style>
          <a:lnRef idx="2">
            <a:srgbClr val="86C131">
              <a:shade val="50000"/>
            </a:srgbClr>
          </a:lnRef>
          <a:fillRef idx="1">
            <a:srgbClr val="86C131"/>
          </a:fillRef>
          <a:effectRef idx="0">
            <a:srgbClr val="86C131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4815564" y="3967481"/>
            <a:ext cx="3480435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125000"/>
              </a:lnSpc>
            </a:pPr>
            <a:r>
              <a:rPr lang="zh-CN" altLang="en-US" spc="20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汇报人：</a:t>
            </a:r>
            <a:endParaRPr lang="en-US" altLang="zh-CN" spc="200" dirty="0">
              <a:solidFill>
                <a:schemeClr val="bg1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536034" y="4444924"/>
            <a:ext cx="2857693" cy="437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25000"/>
              </a:lnSpc>
            </a:pPr>
            <a:r>
              <a:rPr lang="zh-CN" altLang="en-US" spc="20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汇报时间：</a:t>
            </a:r>
            <a:endParaRPr lang="en-US" altLang="zh-CN" spc="200" dirty="0">
              <a:solidFill>
                <a:schemeClr val="bg1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6"/>
            </p:custDataLst>
          </p:nvPr>
        </p:nvSpPr>
        <p:spPr>
          <a:xfrm>
            <a:off x="1089124" y="1556036"/>
            <a:ext cx="9751512" cy="2027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125000"/>
              </a:lnSpc>
            </a:pPr>
            <a:r>
              <a:rPr lang="en-US" altLang="zh-CN" sz="5400" spc="200" dirty="0" err="1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JavaCC</a:t>
            </a:r>
            <a:r>
              <a:rPr lang="zh-CN" altLang="en-US" sz="5400" spc="20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开发</a:t>
            </a:r>
            <a:r>
              <a:rPr lang="en-US" altLang="zh-CN" sz="5400" spc="20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MiniC</a:t>
            </a:r>
            <a:r>
              <a:rPr lang="zh-CN" altLang="en-US" sz="5400" spc="20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语言编译器</a:t>
            </a:r>
            <a:endParaRPr lang="en-US" altLang="zh-CN" sz="5400" spc="200" dirty="0">
              <a:solidFill>
                <a:schemeClr val="bg1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indent="0" algn="ctr" fontAlgn="auto">
              <a:lnSpc>
                <a:spcPct val="125000"/>
              </a:lnSpc>
            </a:pPr>
            <a:r>
              <a:rPr lang="zh-CN" altLang="en-US" sz="5400" spc="2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（以新增内容为主）</a:t>
            </a:r>
            <a:endParaRPr lang="zh-CN" altLang="en-US" sz="5400" spc="200" dirty="0">
              <a:solidFill>
                <a:schemeClr val="bg1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-635"/>
            <a:ext cx="12192000" cy="6858635"/>
          </a:xfrm>
          <a:prstGeom prst="rect">
            <a:avLst/>
          </a:prstGeom>
          <a:gradFill>
            <a:gsLst>
              <a:gs pos="1000">
                <a:schemeClr val="accent6">
                  <a:lumMod val="20000"/>
                  <a:lumOff val="80000"/>
                  <a:alpha val="31000"/>
                </a:schemeClr>
              </a:gs>
              <a:gs pos="27000">
                <a:srgbClr val="7EAC8D">
                  <a:alpha val="66000"/>
                </a:srgbClr>
              </a:gs>
              <a:gs pos="70000">
                <a:srgbClr val="1A6840">
                  <a:alpha val="6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"/>
            </p:custDataLst>
          </p:nvPr>
        </p:nvSpPr>
        <p:spPr>
          <a:xfrm>
            <a:off x="850265" y="2573020"/>
            <a:ext cx="235966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spc="1200">
                <a:solidFill>
                  <a:srgbClr val="2E461C"/>
                </a:solidFill>
                <a:uFillTx/>
                <a:latin typeface="华文中宋" panose="02010600040101010101" charset="-122"/>
                <a:ea typeface="华文中宋" panose="02010600040101010101" charset="-122"/>
              </a:rPr>
              <a:t>目录</a:t>
            </a:r>
            <a:endParaRPr lang="zh-CN" altLang="en-US" sz="6600" b="1" spc="1200">
              <a:solidFill>
                <a:srgbClr val="2E461C"/>
              </a:solidFill>
              <a:uFillTx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8" name="圆角矩形 17"/>
          <p:cNvSpPr/>
          <p:nvPr>
            <p:custDataLst>
              <p:tags r:id="rId2"/>
            </p:custDataLst>
          </p:nvPr>
        </p:nvSpPr>
        <p:spPr>
          <a:xfrm>
            <a:off x="3668377" y="529917"/>
            <a:ext cx="646430" cy="699770"/>
          </a:xfrm>
          <a:prstGeom prst="roundRect">
            <a:avLst/>
          </a:prstGeom>
          <a:noFill/>
          <a:ln>
            <a:solidFill>
              <a:srgbClr val="2E461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3"/>
            </p:custDataLst>
          </p:nvPr>
        </p:nvSpPr>
        <p:spPr>
          <a:xfrm>
            <a:off x="3668377" y="529917"/>
            <a:ext cx="646430" cy="63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1</a:t>
            </a:r>
            <a:endParaRPr lang="en-US" altLang="zh-CN" sz="440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4852652" y="1527502"/>
            <a:ext cx="188008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语法分析</a:t>
            </a:r>
            <a:endParaRPr lang="zh-CN" altLang="en-US" sz="32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2" name="圆角矩形 21"/>
          <p:cNvSpPr/>
          <p:nvPr>
            <p:custDataLst>
              <p:tags r:id="rId5"/>
            </p:custDataLst>
          </p:nvPr>
        </p:nvSpPr>
        <p:spPr>
          <a:xfrm>
            <a:off x="3673457" y="2428541"/>
            <a:ext cx="646430" cy="699770"/>
          </a:xfrm>
          <a:prstGeom prst="roundRect">
            <a:avLst/>
          </a:prstGeom>
          <a:noFill/>
          <a:ln>
            <a:solidFill>
              <a:srgbClr val="2E461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6"/>
            </p:custDataLst>
          </p:nvPr>
        </p:nvSpPr>
        <p:spPr>
          <a:xfrm>
            <a:off x="3668377" y="2403776"/>
            <a:ext cx="646430" cy="63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3</a:t>
            </a:r>
            <a:endParaRPr lang="en-US" altLang="zh-CN" sz="440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7"/>
            </p:custDataLst>
          </p:nvPr>
        </p:nvSpPr>
        <p:spPr>
          <a:xfrm>
            <a:off x="4850747" y="3413109"/>
            <a:ext cx="3998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错误处理与简单界面</a:t>
            </a:r>
            <a:endParaRPr lang="zh-CN" altLang="en-US" sz="32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6" name="圆角矩形 25"/>
          <p:cNvSpPr/>
          <p:nvPr>
            <p:custDataLst>
              <p:tags r:id="rId8"/>
            </p:custDataLst>
          </p:nvPr>
        </p:nvSpPr>
        <p:spPr>
          <a:xfrm>
            <a:off x="3668377" y="1480512"/>
            <a:ext cx="646430" cy="699770"/>
          </a:xfrm>
          <a:prstGeom prst="roundRect">
            <a:avLst/>
          </a:prstGeom>
          <a:noFill/>
          <a:ln>
            <a:solidFill>
              <a:srgbClr val="2E461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9"/>
            </p:custDataLst>
          </p:nvPr>
        </p:nvSpPr>
        <p:spPr>
          <a:xfrm>
            <a:off x="3668377" y="1441777"/>
            <a:ext cx="646430" cy="63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2</a:t>
            </a:r>
            <a:endParaRPr lang="en-US" altLang="zh-CN" sz="4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10"/>
            </p:custDataLst>
          </p:nvPr>
        </p:nvSpPr>
        <p:spPr>
          <a:xfrm>
            <a:off x="4850747" y="2475531"/>
            <a:ext cx="41116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语义分析</a:t>
            </a:r>
            <a:endParaRPr lang="zh-CN" altLang="en-US" sz="32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13"/>
            </p:custDataLst>
          </p:nvPr>
        </p:nvSpPr>
        <p:spPr>
          <a:xfrm>
            <a:off x="3673457" y="3387997"/>
            <a:ext cx="646430" cy="63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4</a:t>
            </a:r>
            <a:endParaRPr lang="en-US" altLang="zh-CN" sz="440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14"/>
            </p:custDataLst>
          </p:nvPr>
        </p:nvSpPr>
        <p:spPr>
          <a:xfrm>
            <a:off x="3673457" y="3387997"/>
            <a:ext cx="646430" cy="699770"/>
          </a:xfrm>
          <a:prstGeom prst="roundRect">
            <a:avLst/>
          </a:prstGeom>
          <a:noFill/>
          <a:ln>
            <a:solidFill>
              <a:srgbClr val="2E461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15"/>
            </p:custDataLst>
          </p:nvPr>
        </p:nvSpPr>
        <p:spPr>
          <a:xfrm>
            <a:off x="4813284" y="555634"/>
            <a:ext cx="54013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词法分析</a:t>
            </a:r>
            <a:endParaRPr lang="zh-CN" altLang="en-US" sz="32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6"/>
            </p:custDataLst>
          </p:nvPr>
        </p:nvSpPr>
        <p:spPr>
          <a:xfrm>
            <a:off x="4845667" y="4432409"/>
            <a:ext cx="3998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代码测试与结果展示</a:t>
            </a:r>
            <a:endParaRPr lang="zh-CN" altLang="en-US" sz="32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17"/>
            </p:custDataLst>
          </p:nvPr>
        </p:nvSpPr>
        <p:spPr>
          <a:xfrm>
            <a:off x="3668377" y="4407297"/>
            <a:ext cx="646430" cy="63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5</a:t>
            </a:r>
            <a:endParaRPr lang="en-US" altLang="zh-CN" sz="4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" name="圆角矩形 5"/>
          <p:cNvSpPr/>
          <p:nvPr>
            <p:custDataLst>
              <p:tags r:id="rId18"/>
            </p:custDataLst>
          </p:nvPr>
        </p:nvSpPr>
        <p:spPr>
          <a:xfrm>
            <a:off x="3668377" y="4407297"/>
            <a:ext cx="646430" cy="699770"/>
          </a:xfrm>
          <a:prstGeom prst="roundRect">
            <a:avLst/>
          </a:prstGeom>
          <a:noFill/>
          <a:ln>
            <a:solidFill>
              <a:srgbClr val="2E461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19"/>
            </p:custDataLst>
          </p:nvPr>
        </p:nvSpPr>
        <p:spPr>
          <a:xfrm>
            <a:off x="4852652" y="5366405"/>
            <a:ext cx="3998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辅助说明</a:t>
            </a:r>
            <a:endParaRPr lang="zh-CN" altLang="en-US" sz="32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0"/>
            </p:custDataLst>
          </p:nvPr>
        </p:nvSpPr>
        <p:spPr>
          <a:xfrm>
            <a:off x="3675362" y="5341293"/>
            <a:ext cx="646430" cy="63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6</a:t>
            </a:r>
            <a:endParaRPr lang="en-US" altLang="zh-CN" sz="4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3" name="圆角矩形 5"/>
          <p:cNvSpPr/>
          <p:nvPr>
            <p:custDataLst>
              <p:tags r:id="rId21"/>
            </p:custDataLst>
          </p:nvPr>
        </p:nvSpPr>
        <p:spPr>
          <a:xfrm>
            <a:off x="3675362" y="5341293"/>
            <a:ext cx="646430" cy="699770"/>
          </a:xfrm>
          <a:prstGeom prst="roundRect">
            <a:avLst/>
          </a:prstGeom>
          <a:noFill/>
          <a:ln>
            <a:solidFill>
              <a:srgbClr val="2E461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>
            <a:gsLst>
              <a:gs pos="1000">
                <a:srgbClr val="C1DFAE">
                  <a:alpha val="76000"/>
                </a:srgbClr>
              </a:gs>
              <a:gs pos="27000">
                <a:srgbClr val="7EAC8D">
                  <a:alpha val="82000"/>
                </a:srgbClr>
              </a:gs>
              <a:gs pos="76000">
                <a:srgbClr val="1A6840">
                  <a:alpha val="7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377690" y="2518410"/>
            <a:ext cx="3375921" cy="103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dist" fontAlgn="auto">
              <a:lnSpc>
                <a:spcPct val="125000"/>
              </a:lnSpc>
            </a:pPr>
            <a:r>
              <a:rPr lang="zh-CN" altLang="en-US" sz="5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词法分析</a:t>
            </a:r>
            <a:endParaRPr lang="zh-CN" altLang="en-US" sz="5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pic>
        <p:nvPicPr>
          <p:cNvPr id="4" name="图片 3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2021840" y="2267585"/>
            <a:ext cx="1786890" cy="1823720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chemeClr val="accent6">
                    <a:lumMod val="40000"/>
                    <a:lumOff val="6000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207895" y="2518410"/>
            <a:ext cx="13843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1</a:t>
            </a:r>
            <a:endParaRPr lang="en-US" altLang="zh-CN" sz="8000" b="1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词法分析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67690" y="1517015"/>
            <a:ext cx="1336737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925830"/>
            <a:ext cx="1750060" cy="514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主要工作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87045" y="2303544"/>
            <a:ext cx="10866755" cy="39452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TOKEN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语法关键词、变量类型和运算符号部分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新增内容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，使编译器能够识别更多单词，能够满足新增的语法分析内容的需要；同时对数字部分的识别进行了完善，使其能够同时识别整数与浮点数，并且在不允许前导零的前提下，也能识别零与整数部分是零的浮点数。</a:t>
            </a:r>
            <a:endParaRPr lang="en-US" altLang="zh-CN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问题初步分析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67690" y="1517015"/>
            <a:ext cx="1481116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925830"/>
            <a:ext cx="3703955" cy="514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添加内容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335535" y="4386393"/>
            <a:ext cx="1426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语法关键字</a:t>
            </a:r>
            <a:endParaRPr lang="zh-CN" altLang="en-US" dirty="0"/>
          </a:p>
        </p:txBody>
      </p:sp>
      <p:pic>
        <p:nvPicPr>
          <p:cNvPr id="1026" name="图片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298" y="1815312"/>
            <a:ext cx="2344773" cy="2457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图片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2047" y="1815312"/>
            <a:ext cx="2467506" cy="228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图片 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7068" y="1474701"/>
            <a:ext cx="2913634" cy="279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4875999" y="4397978"/>
            <a:ext cx="1426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操作符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9030614" y="4397978"/>
            <a:ext cx="1426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变量类型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4571530" y="6147406"/>
            <a:ext cx="2035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十进制浮点数识别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8199" y="5099588"/>
            <a:ext cx="9741829" cy="8012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>
            <a:gsLst>
              <a:gs pos="1000">
                <a:srgbClr val="C1DFAE">
                  <a:alpha val="76000"/>
                </a:srgbClr>
              </a:gs>
              <a:gs pos="27000">
                <a:srgbClr val="7EAC8D">
                  <a:alpha val="82000"/>
                </a:srgbClr>
              </a:gs>
              <a:gs pos="76000">
                <a:srgbClr val="1A6840">
                  <a:alpha val="7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377690" y="2518410"/>
            <a:ext cx="6271260" cy="103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5000"/>
              </a:lnSpc>
            </a:pPr>
            <a:r>
              <a:rPr lang="zh-CN" altLang="en-US" sz="5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语法分析</a:t>
            </a:r>
            <a:endParaRPr lang="zh-CN" altLang="en-US" sz="5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pic>
        <p:nvPicPr>
          <p:cNvPr id="4" name="图片 3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2021840" y="2267585"/>
            <a:ext cx="1786890" cy="1823720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chemeClr val="accent6">
                    <a:lumMod val="40000"/>
                    <a:lumOff val="6000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207895" y="2518410"/>
            <a:ext cx="13843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2</a:t>
            </a:r>
            <a:endParaRPr lang="en-US" altLang="zh-CN" sz="8000" b="1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语法分析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67690" y="1517015"/>
            <a:ext cx="1336737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925830"/>
            <a:ext cx="1750060" cy="514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主要工作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87045" y="2040497"/>
            <a:ext cx="10866755" cy="39452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根据使用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巴克斯范式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定义的语法，将其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代码化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，保证能完成递归下降分析的部分，并生成正确的语法树，包括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优化声明语句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，使其支持识别在定义的同时赋值；细化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逻辑表达式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，加入逻辑或，逻辑与，逻辑非三个环节，最终识别关系表达式，使其功能更加严谨与全面，替换旧的条件表达式；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添加</a:t>
            </a:r>
            <a:r>
              <a:rPr lang="en-US" altLang="zh-CN" sz="2400" dirty="0" err="1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dowhile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语句，</a:t>
            </a:r>
            <a:r>
              <a:rPr lang="en-US" altLang="zh-CN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for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语句，</a:t>
            </a:r>
            <a:r>
              <a:rPr lang="en-US" altLang="zh-CN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switch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语句三个语句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加入自增和自减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，以更好地支持循环语句的使用。</a:t>
            </a:r>
            <a:endParaRPr lang="en-US" altLang="zh-CN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词法分析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67690" y="1517015"/>
            <a:ext cx="3806601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4" y="925830"/>
            <a:ext cx="3887247" cy="514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完整语法（巴科斯范式）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-5080" y="1517015"/>
            <a:ext cx="6072195" cy="526449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程序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&gt;::=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类型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“main” “(” “{” {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语句块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} “}” “)”</a:t>
            </a:r>
            <a:endParaRPr lang="en-US" altLang="zh-CN" sz="16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语句块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&gt;::=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| “{” {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语句块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} “}”</a:t>
            </a:r>
            <a:endParaRPr lang="en-US" altLang="zh-CN" sz="16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&gt;::=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顺序语句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| &lt;if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| &lt;while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| &lt;</a:t>
            </a:r>
            <a:r>
              <a:rPr lang="en-US" altLang="zh-CN" sz="1600" dirty="0" err="1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dowhile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| &lt;for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| &lt;switch-case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|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自增语句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顺序语句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&gt;::= (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声明语句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|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赋值语句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|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自增语句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) “;”</a:t>
            </a:r>
            <a:endParaRPr lang="en-US" altLang="zh-CN" sz="16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en-US" altLang="zh-CN" sz="16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声明语句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::=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类型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标识符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[ “=”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表达式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&gt;] { “,”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类型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标识符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[ “=”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表达式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&gt;]}</a:t>
            </a:r>
            <a:endParaRPr lang="en-US" altLang="zh-CN" sz="16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赋值语句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&gt;::=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标识符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=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表达式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逻辑表达式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&gt;::=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或语句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或语句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&gt;::=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与语句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{ “||”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与语句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} </a:t>
            </a:r>
            <a:endParaRPr lang="en-US" altLang="zh-CN" sz="16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与语句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&gt;::=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非语句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{ “&amp;&amp;”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非语句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} </a:t>
            </a:r>
            <a:endParaRPr lang="en-US" altLang="zh-CN" sz="16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非语句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&gt;::= [“!”]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关系表达式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</a:t>
            </a:r>
            <a:endParaRPr lang="en-US" altLang="zh-CN" sz="16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关系表达式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&gt;::=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表达式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{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关系运算符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表达式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}</a:t>
            </a:r>
            <a:endParaRPr lang="en-US" altLang="zh-CN" sz="16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67115" y="1490003"/>
            <a:ext cx="6072195" cy="526449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&lt;if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&gt;::= “if” “(”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逻辑表达式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“)”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语句块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[ “else”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语句块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]</a:t>
            </a:r>
            <a:endParaRPr lang="en-US" altLang="zh-CN" sz="16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&lt;while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&gt;::= “while” “(”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逻辑表达式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“)”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语句块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 </a:t>
            </a:r>
            <a:endParaRPr lang="en-US" altLang="zh-CN" sz="16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&lt;</a:t>
            </a:r>
            <a:r>
              <a:rPr lang="en-US" altLang="zh-CN" sz="1600" dirty="0" err="1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dowhile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&gt;::= “do”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语句块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“while” “(”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逻辑表达式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“)”</a:t>
            </a:r>
            <a:endParaRPr lang="en-US" altLang="zh-CN" sz="16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自增自减语句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&gt;::= &lt; (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标识符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“++”) | (&lt;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标识符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“--” ) &gt; | &lt; ( “++”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标识符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&gt;) | ( “--”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标识符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) &gt;</a:t>
            </a:r>
            <a:endParaRPr lang="en-US" altLang="zh-CN" sz="16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&lt;for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&gt;::= “for” “(” [&lt;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声明语句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|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赋值语句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] “;” [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逻辑语句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] “;” [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自增语句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|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赋值语句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] “)”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语句块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</a:t>
            </a:r>
            <a:endParaRPr lang="en-US" altLang="zh-CN" sz="16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&lt;switch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语句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&gt;::= “switch”  “(”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表达式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“)” “{” { “case”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表达式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“:”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语句块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“</a:t>
            </a:r>
            <a:r>
              <a:rPr lang="en-US" altLang="zh-CN" sz="1600" dirty="0" err="1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berak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;” “}” } “default” “:” &lt;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语句块</a:t>
            </a:r>
            <a:r>
              <a:rPr lang="en-US" altLang="zh-CN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 “}”</a:t>
            </a:r>
            <a:endParaRPr lang="en-US" altLang="zh-CN" sz="16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语法分析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67690" y="1517015"/>
            <a:ext cx="4273620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947823"/>
            <a:ext cx="4460735" cy="514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优化声明语句与关系表达式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742138" y="2603333"/>
            <a:ext cx="5149243" cy="105343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/>
              <a:t>&lt;</a:t>
            </a:r>
            <a:r>
              <a:rPr lang="zh-CN" altLang="zh-CN" dirty="0"/>
              <a:t>声明语句</a:t>
            </a:r>
            <a:r>
              <a:rPr lang="en-US" altLang="zh-CN" dirty="0"/>
              <a:t>&gt; ::= &lt;</a:t>
            </a:r>
            <a:r>
              <a:rPr lang="zh-CN" altLang="zh-CN" dirty="0"/>
              <a:t>类型</a:t>
            </a:r>
            <a:r>
              <a:rPr lang="en-US" altLang="zh-CN" dirty="0"/>
              <a:t>&gt; &lt;</a:t>
            </a:r>
            <a:r>
              <a:rPr lang="zh-CN" altLang="zh-CN" dirty="0"/>
              <a:t>标识符</a:t>
            </a:r>
            <a:r>
              <a:rPr lang="en-US" altLang="zh-CN" dirty="0"/>
              <a:t>&gt; [ “=” &lt;</a:t>
            </a:r>
            <a:r>
              <a:rPr lang="zh-CN" altLang="zh-CN" dirty="0"/>
              <a:t>表达式</a:t>
            </a:r>
            <a:r>
              <a:rPr lang="en-US" altLang="zh-CN" dirty="0"/>
              <a:t>&gt;] { “,” &lt;</a:t>
            </a:r>
            <a:r>
              <a:rPr lang="zh-CN" altLang="zh-CN" dirty="0"/>
              <a:t>类型</a:t>
            </a:r>
            <a:r>
              <a:rPr lang="en-US" altLang="zh-CN" dirty="0"/>
              <a:t>&gt; &lt;</a:t>
            </a:r>
            <a:r>
              <a:rPr lang="zh-CN" altLang="zh-CN" dirty="0"/>
              <a:t>标识符</a:t>
            </a:r>
            <a:r>
              <a:rPr lang="en-US" altLang="zh-CN" dirty="0"/>
              <a:t>&gt; [ “=” &lt;</a:t>
            </a:r>
            <a:r>
              <a:rPr lang="zh-CN" altLang="zh-CN" dirty="0"/>
              <a:t>表达式</a:t>
            </a:r>
            <a:r>
              <a:rPr lang="en-US" altLang="zh-CN" dirty="0"/>
              <a:t>&gt;]}</a:t>
            </a:r>
            <a:endParaRPr lang="zh-CN" altLang="zh-CN" dirty="0"/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1026" name="图片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5658" y="1759172"/>
            <a:ext cx="2096661" cy="2678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图片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020" y="4679483"/>
            <a:ext cx="327025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本框 11"/>
          <p:cNvSpPr txBox="1"/>
          <p:nvPr/>
        </p:nvSpPr>
        <p:spPr>
          <a:xfrm>
            <a:off x="5338172" y="5104363"/>
            <a:ext cx="5957173" cy="105343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dirty="0"/>
              <a:t>         &lt;</a:t>
            </a:r>
            <a:r>
              <a:rPr lang="zh-CN" altLang="zh-CN" dirty="0"/>
              <a:t>关系表达式</a:t>
            </a:r>
            <a:r>
              <a:rPr lang="en-US" altLang="zh-CN" dirty="0"/>
              <a:t>&gt;::= &lt;</a:t>
            </a:r>
            <a:r>
              <a:rPr lang="zh-CN" altLang="zh-CN" dirty="0"/>
              <a:t>表达式</a:t>
            </a:r>
            <a:r>
              <a:rPr lang="en-US" altLang="zh-CN" dirty="0"/>
              <a:t>&gt; { &lt;</a:t>
            </a:r>
            <a:r>
              <a:rPr lang="zh-CN" altLang="zh-CN" dirty="0"/>
              <a:t>关系运算符</a:t>
            </a:r>
            <a:r>
              <a:rPr lang="en-US" altLang="zh-CN" dirty="0"/>
              <a:t>&gt; &lt;</a:t>
            </a:r>
            <a:r>
              <a:rPr lang="zh-CN" altLang="zh-CN" dirty="0"/>
              <a:t>表达式</a:t>
            </a:r>
            <a:r>
              <a:rPr lang="en-US" altLang="zh-CN" dirty="0"/>
              <a:t>&gt; }</a:t>
            </a:r>
            <a:endParaRPr lang="zh-CN" altLang="zh-CN" dirty="0"/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语法分析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80990" y="1579645"/>
            <a:ext cx="6034619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947823"/>
            <a:ext cx="6251957" cy="514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逻辑表达式、逻辑或、逻辑与、逻辑非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182771" y="2545826"/>
            <a:ext cx="4576176" cy="26066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dirty="0"/>
              <a:t>&lt;</a:t>
            </a:r>
            <a:r>
              <a:rPr lang="zh-CN" altLang="zh-CN" dirty="0"/>
              <a:t>逻辑表达式</a:t>
            </a:r>
            <a:r>
              <a:rPr lang="en-US" altLang="zh-CN" dirty="0"/>
              <a:t>&gt;::= &lt;</a:t>
            </a:r>
            <a:r>
              <a:rPr lang="zh-CN" altLang="zh-CN" dirty="0"/>
              <a:t>或语句</a:t>
            </a:r>
            <a:r>
              <a:rPr lang="en-US" altLang="zh-CN" dirty="0"/>
              <a:t>&gt;</a:t>
            </a:r>
            <a:endParaRPr lang="en-US" altLang="zh-CN" dirty="0"/>
          </a:p>
          <a:p>
            <a:endParaRPr lang="en-US" altLang="zh-CN" dirty="0"/>
          </a:p>
          <a:p>
            <a:endParaRPr lang="zh-CN" altLang="zh-CN" dirty="0"/>
          </a:p>
          <a:p>
            <a:r>
              <a:rPr lang="en-US" altLang="zh-CN" dirty="0"/>
              <a:t>&lt;</a:t>
            </a:r>
            <a:r>
              <a:rPr lang="zh-CN" altLang="zh-CN" dirty="0"/>
              <a:t>或语句</a:t>
            </a:r>
            <a:r>
              <a:rPr lang="en-US" altLang="zh-CN" dirty="0"/>
              <a:t>&gt;::= &lt;</a:t>
            </a:r>
            <a:r>
              <a:rPr lang="zh-CN" altLang="zh-CN" dirty="0"/>
              <a:t>与语句</a:t>
            </a:r>
            <a:r>
              <a:rPr lang="en-US" altLang="zh-CN" dirty="0"/>
              <a:t>&gt; { “||” &lt;</a:t>
            </a:r>
            <a:r>
              <a:rPr lang="zh-CN" altLang="zh-CN" dirty="0"/>
              <a:t>与语句</a:t>
            </a:r>
            <a:r>
              <a:rPr lang="en-US" altLang="zh-CN" dirty="0"/>
              <a:t>&gt; }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</a:t>
            </a:r>
            <a:endParaRPr lang="zh-CN" altLang="zh-CN" dirty="0"/>
          </a:p>
          <a:p>
            <a:r>
              <a:rPr lang="en-US" altLang="zh-CN" dirty="0"/>
              <a:t>&lt;</a:t>
            </a:r>
            <a:r>
              <a:rPr lang="zh-CN" altLang="zh-CN" dirty="0"/>
              <a:t>与语句</a:t>
            </a:r>
            <a:r>
              <a:rPr lang="en-US" altLang="zh-CN" dirty="0"/>
              <a:t>&gt;::= &lt;</a:t>
            </a:r>
            <a:r>
              <a:rPr lang="zh-CN" altLang="zh-CN" dirty="0"/>
              <a:t>非语句</a:t>
            </a:r>
            <a:r>
              <a:rPr lang="en-US" altLang="zh-CN" dirty="0"/>
              <a:t>&gt; { “&amp;&amp;” &lt;</a:t>
            </a:r>
            <a:r>
              <a:rPr lang="zh-CN" altLang="zh-CN" dirty="0"/>
              <a:t>非语句</a:t>
            </a:r>
            <a:r>
              <a:rPr lang="en-US" altLang="zh-CN" dirty="0"/>
              <a:t>&gt; }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</a:t>
            </a:r>
            <a:endParaRPr lang="zh-CN" altLang="zh-CN" dirty="0"/>
          </a:p>
          <a:p>
            <a:r>
              <a:rPr lang="en-US" altLang="zh-CN" dirty="0"/>
              <a:t>&lt;</a:t>
            </a:r>
            <a:r>
              <a:rPr lang="zh-CN" altLang="zh-CN" dirty="0"/>
              <a:t>非语句</a:t>
            </a:r>
            <a:r>
              <a:rPr lang="en-US" altLang="zh-CN" dirty="0"/>
              <a:t>&gt;::= [“!”] &lt;</a:t>
            </a:r>
            <a:r>
              <a:rPr lang="zh-CN" altLang="zh-CN" dirty="0"/>
              <a:t>关系表达式</a:t>
            </a:r>
            <a:r>
              <a:rPr lang="en-US" altLang="zh-CN" dirty="0"/>
              <a:t>&gt; </a:t>
            </a:r>
            <a:endParaRPr lang="zh-CN" altLang="zh-CN" dirty="0"/>
          </a:p>
        </p:txBody>
      </p:sp>
      <p:pic>
        <p:nvPicPr>
          <p:cNvPr id="2050" name="图片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832" y="1797161"/>
            <a:ext cx="2271830" cy="4648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语法分析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67690" y="1517015"/>
            <a:ext cx="2689077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947823"/>
            <a:ext cx="4460735" cy="514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err="1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dowhile</a:t>
            </a: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循环语句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400801" y="3303740"/>
            <a:ext cx="3870542" cy="105343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dirty="0"/>
              <a:t>&lt;</a:t>
            </a:r>
            <a:r>
              <a:rPr lang="en-US" altLang="zh-CN" dirty="0" err="1"/>
              <a:t>dowhile</a:t>
            </a:r>
            <a:r>
              <a:rPr lang="zh-CN" altLang="en-US" dirty="0"/>
              <a:t>语句</a:t>
            </a:r>
            <a:r>
              <a:rPr lang="en-US" altLang="zh-CN" dirty="0"/>
              <a:t>&gt;::= “do” &lt;</a:t>
            </a:r>
            <a:r>
              <a:rPr lang="zh-CN" altLang="en-US" dirty="0"/>
              <a:t>语句块</a:t>
            </a:r>
            <a:r>
              <a:rPr lang="en-US" altLang="zh-CN" dirty="0"/>
              <a:t>&gt;  “while” “(” &lt;</a:t>
            </a:r>
            <a:r>
              <a:rPr lang="zh-CN" altLang="en-US" dirty="0"/>
              <a:t>逻辑表达式</a:t>
            </a:r>
            <a:r>
              <a:rPr lang="en-US" altLang="zh-CN" dirty="0"/>
              <a:t>&gt; “)”</a:t>
            </a:r>
            <a:endParaRPr lang="en-US" altLang="zh-CN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074" name="图片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255" y="2992089"/>
            <a:ext cx="4361378" cy="1542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语法分析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67690" y="1517015"/>
            <a:ext cx="1899937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947823"/>
            <a:ext cx="4460735" cy="514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for</a:t>
            </a: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循环语句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035978" y="3174103"/>
            <a:ext cx="5581912" cy="105343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/>
              <a:t>&lt;for</a:t>
            </a:r>
            <a:r>
              <a:rPr lang="zh-CN" altLang="en-US" dirty="0"/>
              <a:t>语句</a:t>
            </a:r>
            <a:r>
              <a:rPr lang="en-US" altLang="zh-CN" dirty="0"/>
              <a:t>&gt;::= “for” “(” [&lt;</a:t>
            </a:r>
            <a:r>
              <a:rPr lang="zh-CN" altLang="en-US" dirty="0"/>
              <a:t>声明语句</a:t>
            </a:r>
            <a:r>
              <a:rPr lang="en-US" altLang="zh-CN" dirty="0"/>
              <a:t>&gt; | &lt;</a:t>
            </a:r>
            <a:r>
              <a:rPr lang="zh-CN" altLang="en-US" dirty="0"/>
              <a:t>赋值语句</a:t>
            </a:r>
            <a:r>
              <a:rPr lang="en-US" altLang="zh-CN" dirty="0"/>
              <a:t>&gt; ] “;” [ &lt;</a:t>
            </a:r>
            <a:r>
              <a:rPr lang="zh-CN" altLang="en-US" dirty="0"/>
              <a:t>逻辑语句</a:t>
            </a:r>
            <a:r>
              <a:rPr lang="en-US" altLang="zh-CN" dirty="0"/>
              <a:t>&gt; ] “;” [ &lt;</a:t>
            </a:r>
            <a:r>
              <a:rPr lang="zh-CN" altLang="en-US" dirty="0"/>
              <a:t>自增语句</a:t>
            </a:r>
            <a:r>
              <a:rPr lang="en-US" altLang="zh-CN" dirty="0"/>
              <a:t>|</a:t>
            </a:r>
            <a:r>
              <a:rPr lang="zh-CN" altLang="en-US" dirty="0"/>
              <a:t>赋值语句</a:t>
            </a:r>
            <a:r>
              <a:rPr lang="en-US" altLang="zh-CN" dirty="0"/>
              <a:t>&gt; ] “)” &lt;</a:t>
            </a:r>
            <a:r>
              <a:rPr lang="zh-CN" altLang="en-US" dirty="0"/>
              <a:t>语句块</a:t>
            </a:r>
            <a:r>
              <a:rPr lang="en-US" altLang="zh-CN" dirty="0"/>
              <a:t>&gt; </a:t>
            </a:r>
            <a:endParaRPr lang="zh-CN" altLang="zh-CN" dirty="0"/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098" name="图片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159" y="1780208"/>
            <a:ext cx="2943307" cy="4576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语法分析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67690" y="1517015"/>
            <a:ext cx="2538765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947823"/>
            <a:ext cx="4460735" cy="514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switch</a:t>
            </a: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选择语句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792243" y="3429000"/>
            <a:ext cx="5781807" cy="105343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dirty="0"/>
              <a:t>&lt;switch</a:t>
            </a:r>
            <a:r>
              <a:rPr lang="zh-CN" altLang="zh-CN" dirty="0"/>
              <a:t>语句</a:t>
            </a:r>
            <a:r>
              <a:rPr lang="en-US" altLang="zh-CN" dirty="0"/>
              <a:t>&gt;::= “switch”  “(” &lt;</a:t>
            </a:r>
            <a:r>
              <a:rPr lang="zh-CN" altLang="zh-CN" dirty="0"/>
              <a:t>表达式</a:t>
            </a:r>
            <a:r>
              <a:rPr lang="en-US" altLang="zh-CN" dirty="0"/>
              <a:t>&gt; “)” “{” { “case” &lt;</a:t>
            </a:r>
            <a:r>
              <a:rPr lang="zh-CN" altLang="zh-CN" dirty="0"/>
              <a:t>表达式</a:t>
            </a:r>
            <a:r>
              <a:rPr lang="en-US" altLang="zh-CN" dirty="0"/>
              <a:t>&gt; “:” &lt;</a:t>
            </a:r>
            <a:r>
              <a:rPr lang="zh-CN" altLang="zh-CN" dirty="0"/>
              <a:t>语句块</a:t>
            </a:r>
            <a:r>
              <a:rPr lang="en-US" altLang="zh-CN" dirty="0"/>
              <a:t>&gt; “</a:t>
            </a:r>
            <a:r>
              <a:rPr lang="en-US" altLang="zh-CN" dirty="0" err="1"/>
              <a:t>berak</a:t>
            </a:r>
            <a:r>
              <a:rPr lang="en-US" altLang="zh-CN" dirty="0"/>
              <a:t>;” “}” } “default” “:” &lt;</a:t>
            </a:r>
            <a:r>
              <a:rPr lang="zh-CN" altLang="zh-CN" dirty="0"/>
              <a:t>语句块</a:t>
            </a:r>
            <a:r>
              <a:rPr lang="en-US" altLang="zh-CN" dirty="0"/>
              <a:t>&gt; “}”</a:t>
            </a:r>
            <a:endParaRPr lang="zh-CN" altLang="zh-CN" dirty="0"/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10" name="图片 9" descr="文本&#10;&#10;AI 生成的内容可能不正确。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1794" y="2347798"/>
            <a:ext cx="3248478" cy="35152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语法分析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67690" y="1517015"/>
            <a:ext cx="1455263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947823"/>
            <a:ext cx="4460735" cy="514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自增自减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792243" y="3429000"/>
            <a:ext cx="5781807" cy="105343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dirty="0"/>
              <a:t>&lt;</a:t>
            </a:r>
            <a:r>
              <a:rPr lang="zh-CN" altLang="zh-CN" dirty="0"/>
              <a:t>自增自减语句</a:t>
            </a:r>
            <a:r>
              <a:rPr lang="en-US" altLang="zh-CN" dirty="0"/>
              <a:t>&gt;::= &lt; ( &lt;</a:t>
            </a:r>
            <a:r>
              <a:rPr lang="zh-CN" altLang="en-US" dirty="0"/>
              <a:t>标识符</a:t>
            </a:r>
            <a:r>
              <a:rPr lang="en-US" altLang="zh-CN" dirty="0"/>
              <a:t>&gt; “++”) | (&lt;</a:t>
            </a:r>
            <a:r>
              <a:rPr lang="zh-CN" altLang="en-US" dirty="0"/>
              <a:t>标识符</a:t>
            </a:r>
            <a:r>
              <a:rPr lang="en-US" altLang="zh-CN" dirty="0"/>
              <a:t>&gt; “--” ) &gt; | &lt; ( “++” &lt;</a:t>
            </a:r>
            <a:r>
              <a:rPr lang="zh-CN" altLang="en-US" dirty="0"/>
              <a:t>标识符</a:t>
            </a:r>
            <a:r>
              <a:rPr lang="en-US" altLang="zh-CN" dirty="0"/>
              <a:t>&gt;) | ( “--” &lt;</a:t>
            </a:r>
            <a:r>
              <a:rPr lang="zh-CN" altLang="en-US" dirty="0"/>
              <a:t>标识符</a:t>
            </a:r>
            <a:r>
              <a:rPr lang="en-US" altLang="zh-CN" dirty="0"/>
              <a:t>&gt; ) &gt;</a:t>
            </a:r>
            <a:endParaRPr lang="zh-CN" altLang="zh-CN" dirty="0"/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6146" name="图片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794" y="1738227"/>
            <a:ext cx="1841500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6857365"/>
          </a:xfrm>
          <a:prstGeom prst="rect">
            <a:avLst/>
          </a:prstGeom>
          <a:gradFill>
            <a:gsLst>
              <a:gs pos="1000">
                <a:srgbClr val="C1DFAE">
                  <a:alpha val="76000"/>
                </a:srgbClr>
              </a:gs>
              <a:gs pos="27000">
                <a:srgbClr val="7EAC8D">
                  <a:alpha val="82000"/>
                </a:srgbClr>
              </a:gs>
              <a:gs pos="76000">
                <a:srgbClr val="1A6840">
                  <a:alpha val="7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377691" y="2518410"/>
            <a:ext cx="4315736" cy="103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5000"/>
              </a:lnSpc>
            </a:pPr>
            <a:r>
              <a:rPr lang="zh-CN" altLang="en-US" sz="5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语义分析</a:t>
            </a:r>
            <a:endParaRPr lang="zh-CN" altLang="en-US" sz="5400" spc="200" dirty="0">
              <a:solidFill>
                <a:srgbClr val="2E461C"/>
              </a:solidFill>
              <a:uFillTx/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2021840" y="2267585"/>
            <a:ext cx="1786890" cy="1823720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chemeClr val="accent6">
                    <a:lumMod val="40000"/>
                    <a:lumOff val="6000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207895" y="2518410"/>
            <a:ext cx="13843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3</a:t>
            </a:r>
            <a:endParaRPr lang="en-US" altLang="zh-CN" sz="8000" b="1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3</a:t>
            </a:r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语义分析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67690" y="1517015"/>
            <a:ext cx="1336737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925830"/>
            <a:ext cx="1750060" cy="514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主要工作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87045" y="2240913"/>
            <a:ext cx="10866755" cy="39452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本阶段的主要工作是完成新增内容的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语法制导翻译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难点在于拉链和回填两个操作的使用，下面对每一个新增内容进行分析与实现代码的展示，并结合图示进行说明。</a:t>
            </a:r>
            <a:endParaRPr lang="en-US" altLang="zh-CN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3.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语义分析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81872" y="1578566"/>
            <a:ext cx="1756527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1023328"/>
            <a:ext cx="1975108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逻辑表达式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30177" y="2141481"/>
            <a:ext cx="1653436" cy="65761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逻辑表达式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3176095" y="2133805"/>
            <a:ext cx="1653436" cy="65761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逻辑或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3" name="直接箭头连接符 12"/>
          <p:cNvCxnSpPr>
            <a:stCxn id="7" idx="3"/>
            <a:endCxn id="9" idx="1"/>
          </p:cNvCxnSpPr>
          <p:nvPr/>
        </p:nvCxnSpPr>
        <p:spPr>
          <a:xfrm flipV="1">
            <a:off x="2783613" y="2462614"/>
            <a:ext cx="392482" cy="767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9313849" y="2133805"/>
            <a:ext cx="1653436" cy="65761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关系表达式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267931" y="2126398"/>
            <a:ext cx="1653436" cy="65761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逻辑非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222013" y="2141481"/>
            <a:ext cx="1653436" cy="65761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逻辑与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 flipV="1">
            <a:off x="4829531" y="2466451"/>
            <a:ext cx="392482" cy="767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V="1">
            <a:off x="6875449" y="2470289"/>
            <a:ext cx="392482" cy="767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V="1">
            <a:off x="8921367" y="2447530"/>
            <a:ext cx="392482" cy="767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5078261" y="3043110"/>
            <a:ext cx="2035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识别顺序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1130177" y="3595122"/>
            <a:ext cx="1653436" cy="65761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关系表达式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176095" y="3587446"/>
            <a:ext cx="1653436" cy="65761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逻辑非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5" name="直接箭头连接符 24"/>
          <p:cNvCxnSpPr>
            <a:stCxn id="23" idx="3"/>
            <a:endCxn id="24" idx="1"/>
          </p:cNvCxnSpPr>
          <p:nvPr/>
        </p:nvCxnSpPr>
        <p:spPr>
          <a:xfrm flipV="1">
            <a:off x="2783613" y="3916255"/>
            <a:ext cx="392482" cy="767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9313849" y="3587446"/>
            <a:ext cx="1653436" cy="65761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逻辑表达式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267931" y="3580039"/>
            <a:ext cx="1653436" cy="65761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逻辑或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222013" y="3595122"/>
            <a:ext cx="1653436" cy="65761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逻辑与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 flipV="1">
            <a:off x="4829531" y="3920092"/>
            <a:ext cx="392482" cy="767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V="1">
            <a:off x="6875449" y="3923930"/>
            <a:ext cx="392482" cy="767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V="1">
            <a:off x="8921367" y="3901171"/>
            <a:ext cx="392482" cy="767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5078261" y="4435418"/>
            <a:ext cx="2035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四元式生成顺序</a:t>
            </a:r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487045" y="4858407"/>
            <a:ext cx="10866755" cy="141430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由于不同逻辑操作之间的结合优先级与递归的运行方式，识别顺序与四元式的生成顺序是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相反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的，这里按四元式的生成顺序进行分析</a:t>
            </a:r>
            <a:endParaRPr lang="en-US" altLang="zh-CN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3.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语义分析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81872" y="1578566"/>
            <a:ext cx="1756527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1023328"/>
            <a:ext cx="1975108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关系表达式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288065" y="2296834"/>
            <a:ext cx="4880505" cy="141430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关系表达式与原有的条件语句基本类似，都是根据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是否有后续关系运算符连接的表达式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，生成对应的四元式，再使用</a:t>
            </a:r>
            <a:r>
              <a:rPr lang="en-US" altLang="zh-CN" sz="2400" dirty="0" err="1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ConditionValue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类的实例来存储真值对应的四元式与假值所对应的四元式，并将实例返回上层，以进行回填操作。</a:t>
            </a:r>
            <a:endParaRPr lang="en-US" altLang="zh-CN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7170" name="图片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681" y="1803466"/>
            <a:ext cx="4069976" cy="4703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2041742" y="4155061"/>
            <a:ext cx="1778695" cy="2791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067529" y="4979702"/>
            <a:ext cx="1778695" cy="2791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916974" y="5517137"/>
            <a:ext cx="1778695" cy="2791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3644" y="1667090"/>
            <a:ext cx="4243876" cy="4985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对角圆角矩形 1"/>
          <p:cNvSpPr/>
          <p:nvPr>
            <p:custDataLst>
              <p:tags r:id="rId2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3.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语义分析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81872" y="1578566"/>
            <a:ext cx="1059038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1029878"/>
            <a:ext cx="1266599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逻辑非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288065" y="2296834"/>
            <a:ext cx="5104357" cy="196827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对于逻辑非而言，若不存在“！”，则正常进行关系表达式的识别，如果存在，根据逻辑非的定义，即对逻辑值取反，将关系表达式返回的</a:t>
            </a:r>
            <a:r>
              <a:rPr lang="en-US" altLang="zh-CN" sz="2400" dirty="0" err="1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ConditionValue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实例中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存储的真链与假链进行交换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，再将实例返回上层。。</a:t>
            </a:r>
            <a:endParaRPr lang="en-US" altLang="zh-CN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261683" y="4615841"/>
            <a:ext cx="3519079" cy="36951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261683" y="5517137"/>
            <a:ext cx="3431396" cy="36951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898" y="1939142"/>
            <a:ext cx="4438290" cy="4179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对角圆角矩形 1"/>
          <p:cNvSpPr/>
          <p:nvPr>
            <p:custDataLst>
              <p:tags r:id="rId2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3.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语义分析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81872" y="1578566"/>
            <a:ext cx="1078809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1023328"/>
            <a:ext cx="1272862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逻辑与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244224" y="2102681"/>
            <a:ext cx="4716050" cy="141430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根据逻辑与的定义可知，它的假出口是所有关系表达式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假出口的累加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，它的真出口为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最后一个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关系表达式的真出口。所以要进行的操作就是用</a:t>
            </a:r>
            <a:r>
              <a:rPr lang="en-US" altLang="zh-CN" sz="2400" dirty="0" err="1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ConditionValue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的实例，不断存储各个关系表达式的假出口，同时让真出口为最后一个关系表达式的真出口，再将实例返回上层。</a:t>
            </a:r>
            <a:endParaRPr lang="en-US" altLang="zh-CN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93348" y="4822521"/>
            <a:ext cx="3574055" cy="3569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735" y="1878905"/>
            <a:ext cx="4625389" cy="420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对角圆角矩形 1"/>
          <p:cNvSpPr/>
          <p:nvPr>
            <p:custDataLst>
              <p:tags r:id="rId2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3.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语义分析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81872" y="1578566"/>
            <a:ext cx="1078809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1023328"/>
            <a:ext cx="1297914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逻辑或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242878" y="1964894"/>
            <a:ext cx="4880505" cy="141430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根逻辑或与逻辑与正好相反，它的真出口是所有关系表达式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真出口的累加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，它的假出口为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最后一个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关系表达式的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假出口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。所以要进行的操作就是用</a:t>
            </a:r>
            <a:r>
              <a:rPr lang="en-US" altLang="zh-CN" sz="2400" dirty="0" err="1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ConditionValue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的实例，不断存储各个关系表达式的真出口，同时让假出口为最后一个关系表达式的加出口，再将实例返回上层。</a:t>
            </a:r>
            <a:endParaRPr lang="en-US" altLang="zh-CN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28801" y="4778680"/>
            <a:ext cx="3419604" cy="3131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87045" y="1023328"/>
            <a:ext cx="2951350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err="1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dowhile</a:t>
            </a: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循环语句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11266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252" y="2279823"/>
            <a:ext cx="4869955" cy="3287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对角圆角矩形 1"/>
          <p:cNvSpPr/>
          <p:nvPr>
            <p:custDataLst>
              <p:tags r:id="rId2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3.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语义分析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81872" y="1578566"/>
            <a:ext cx="2674895" cy="9277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6336823" y="3092237"/>
            <a:ext cx="4880505" cy="141430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本质上与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while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循环语句类似，逻辑表达式整体的真出口要跳回执行部分的开头，假出口要跳到所有四元式总数的下一个，即进入下一部分。主要区别在于，</a:t>
            </a:r>
            <a:r>
              <a:rPr lang="en-US" altLang="zh-CN" sz="2400" dirty="0" err="1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dowhile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执行部分完成后自然进入逻辑表达式的部分，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不需要添加额外的四元式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72751" y="4835047"/>
            <a:ext cx="4523249" cy="3883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400801" y="1685890"/>
            <a:ext cx="2057400" cy="65761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执行部分（起点）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44000" y="1685890"/>
            <a:ext cx="1653436" cy="65761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逻辑表达式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7" name="连接符: 曲线 16"/>
          <p:cNvCxnSpPr>
            <a:stCxn id="5" idx="0"/>
            <a:endCxn id="7" idx="0"/>
          </p:cNvCxnSpPr>
          <p:nvPr/>
        </p:nvCxnSpPr>
        <p:spPr>
          <a:xfrm rot="5400000" flipH="1" flipV="1">
            <a:off x="8700109" y="415282"/>
            <a:ext cx="12700" cy="2541217"/>
          </a:xfrm>
          <a:prstGeom prst="curvedConnector3">
            <a:avLst>
              <a:gd name="adj1" fmla="val 354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连接符: 曲线 22"/>
          <p:cNvCxnSpPr>
            <a:stCxn id="7" idx="2"/>
            <a:endCxn id="5" idx="2"/>
          </p:cNvCxnSpPr>
          <p:nvPr/>
        </p:nvCxnSpPr>
        <p:spPr>
          <a:xfrm rot="5400000">
            <a:off x="8700110" y="1072899"/>
            <a:ext cx="12700" cy="2541217"/>
          </a:xfrm>
          <a:prstGeom prst="curvedConnector3">
            <a:avLst>
              <a:gd name="adj1" fmla="val 4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10884990" y="2536659"/>
            <a:ext cx="1003259" cy="5064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结束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9" name="连接符: 曲线 8"/>
          <p:cNvCxnSpPr>
            <a:stCxn id="7" idx="3"/>
            <a:endCxn id="4" idx="0"/>
          </p:cNvCxnSpPr>
          <p:nvPr/>
        </p:nvCxnSpPr>
        <p:spPr>
          <a:xfrm>
            <a:off x="10797436" y="2014699"/>
            <a:ext cx="589184" cy="521960"/>
          </a:xfrm>
          <a:prstGeom prst="curvedConnector2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453" y="1836641"/>
            <a:ext cx="3230604" cy="4839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487045" y="1023328"/>
            <a:ext cx="2951350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for</a:t>
            </a: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循环语句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2" name="对角圆角矩形 1"/>
          <p:cNvSpPr/>
          <p:nvPr>
            <p:custDataLst>
              <p:tags r:id="rId2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3.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语义分析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581872" y="1571510"/>
            <a:ext cx="1864148" cy="7056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6439499" y="3420740"/>
            <a:ext cx="4880505" cy="141430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    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整体跳转逻辑与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while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循环类似，只是在执行部分完成后，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要先跳转到增加步长的部分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，再到逻辑表达式判断的部分，按照这个顺序对四元式进行回填即可。</a:t>
            </a:r>
            <a:endParaRPr lang="en-US" altLang="zh-CN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48325" y="6037545"/>
            <a:ext cx="2955408" cy="3883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681640" y="1248685"/>
            <a:ext cx="2143933" cy="65761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逻辑表达式</a:t>
            </a:r>
            <a:endParaRPr lang="zh-CN" altLang="en-US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（起点）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9383072" y="2471619"/>
            <a:ext cx="1653436" cy="65761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执行部分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7" name="连接符: 曲线 16"/>
          <p:cNvCxnSpPr>
            <a:stCxn id="5" idx="3"/>
            <a:endCxn id="7" idx="0"/>
          </p:cNvCxnSpPr>
          <p:nvPr/>
        </p:nvCxnSpPr>
        <p:spPr>
          <a:xfrm>
            <a:off x="9825573" y="1577494"/>
            <a:ext cx="384217" cy="894125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连接符: 曲线 22"/>
          <p:cNvCxnSpPr>
            <a:stCxn id="7" idx="1"/>
            <a:endCxn id="24" idx="3"/>
          </p:cNvCxnSpPr>
          <p:nvPr/>
        </p:nvCxnSpPr>
        <p:spPr>
          <a:xfrm rot="10800000">
            <a:off x="8124664" y="2800428"/>
            <a:ext cx="1258408" cy="1"/>
          </a:xfrm>
          <a:prstGeom prst="curvedConnector3">
            <a:avLst>
              <a:gd name="adj1" fmla="val 4751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471228" y="2471618"/>
            <a:ext cx="1653436" cy="65761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增加步长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6" name="连接符: 曲线 35"/>
          <p:cNvCxnSpPr>
            <a:stCxn id="24" idx="0"/>
            <a:endCxn id="5" idx="1"/>
          </p:cNvCxnSpPr>
          <p:nvPr/>
        </p:nvCxnSpPr>
        <p:spPr>
          <a:xfrm rot="5400000" flipH="1" flipV="1">
            <a:off x="7042731" y="1832709"/>
            <a:ext cx="894124" cy="383694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1897693" y="5574082"/>
            <a:ext cx="2906040" cy="13778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0565722" y="1316244"/>
            <a:ext cx="1003259" cy="5064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结束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5" name="连接符: 曲线 24"/>
          <p:cNvCxnSpPr>
            <a:stCxn id="5" idx="3"/>
            <a:endCxn id="14" idx="1"/>
          </p:cNvCxnSpPr>
          <p:nvPr/>
        </p:nvCxnSpPr>
        <p:spPr>
          <a:xfrm flipV="1">
            <a:off x="9825573" y="1569470"/>
            <a:ext cx="740149" cy="8024"/>
          </a:xfrm>
          <a:prstGeom prst="curved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图片 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05" y="4676460"/>
            <a:ext cx="2019600" cy="1820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94" y="1808284"/>
            <a:ext cx="2020202" cy="2848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487044" y="1023328"/>
            <a:ext cx="3527547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Switch</a:t>
            </a: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选择语句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2" name="对角圆角矩形 1"/>
          <p:cNvSpPr/>
          <p:nvPr>
            <p:custDataLst>
              <p:tags r:id="rId3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3.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语义分析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81872" y="1578566"/>
            <a:ext cx="2606002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8169661" y="1882344"/>
            <a:ext cx="3776868" cy="141430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switch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选择语句的特点为如图所示，根据是否找到匹配的值执行相应内容，并且根据有无匹配的值和有无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default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，进行对应的跳转。</a:t>
            </a:r>
            <a:endParaRPr lang="en-US" altLang="zh-CN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78355" y="5179438"/>
            <a:ext cx="1245862" cy="6552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174795" y="1395415"/>
            <a:ext cx="1003259" cy="5064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表达式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420100" y="2268575"/>
            <a:ext cx="1003259" cy="5064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case1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955321" y="2268575"/>
            <a:ext cx="1154620" cy="5064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执行内容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420100" y="3108695"/>
            <a:ext cx="1003259" cy="5064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case2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955321" y="3108696"/>
            <a:ext cx="1154620" cy="5064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执行内容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420100" y="3948815"/>
            <a:ext cx="1003259" cy="5064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……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955321" y="3943691"/>
            <a:ext cx="1154620" cy="5064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执行内容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450200" y="4956135"/>
            <a:ext cx="1003259" cy="5064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default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955321" y="4998884"/>
            <a:ext cx="1154620" cy="5064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执行内容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187710" y="6291262"/>
            <a:ext cx="1003259" cy="5064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结束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4" name="连接符: 曲线 23"/>
          <p:cNvCxnSpPr>
            <a:stCxn id="5" idx="1"/>
            <a:endCxn id="9" idx="1"/>
          </p:cNvCxnSpPr>
          <p:nvPr/>
        </p:nvCxnSpPr>
        <p:spPr>
          <a:xfrm rot="10800000" flipV="1">
            <a:off x="4420101" y="1648641"/>
            <a:ext cx="754695" cy="873160"/>
          </a:xfrm>
          <a:prstGeom prst="curvedConnector3">
            <a:avLst>
              <a:gd name="adj1" fmla="val 13029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曲线 24"/>
          <p:cNvCxnSpPr>
            <a:stCxn id="9" idx="1"/>
            <a:endCxn id="13" idx="1"/>
          </p:cNvCxnSpPr>
          <p:nvPr/>
        </p:nvCxnSpPr>
        <p:spPr>
          <a:xfrm rot="10800000" flipV="1">
            <a:off x="4420100" y="2521801"/>
            <a:ext cx="12700" cy="840120"/>
          </a:xfrm>
          <a:prstGeom prst="curved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连接符: 曲线 27"/>
          <p:cNvCxnSpPr>
            <a:stCxn id="13" idx="1"/>
            <a:endCxn id="15" idx="1"/>
          </p:cNvCxnSpPr>
          <p:nvPr/>
        </p:nvCxnSpPr>
        <p:spPr>
          <a:xfrm rot="10800000" flipV="1">
            <a:off x="4420100" y="3361921"/>
            <a:ext cx="12700" cy="840120"/>
          </a:xfrm>
          <a:prstGeom prst="curved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连接符: 曲线 30"/>
          <p:cNvCxnSpPr>
            <a:stCxn id="15" idx="1"/>
            <a:endCxn id="18" idx="1"/>
          </p:cNvCxnSpPr>
          <p:nvPr/>
        </p:nvCxnSpPr>
        <p:spPr>
          <a:xfrm rot="10800000" flipH="1" flipV="1">
            <a:off x="4420100" y="4202041"/>
            <a:ext cx="30100" cy="1007320"/>
          </a:xfrm>
          <a:prstGeom prst="curvedConnector3">
            <a:avLst>
              <a:gd name="adj1" fmla="val -75946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9" idx="3"/>
            <a:endCxn id="10" idx="1"/>
          </p:cNvCxnSpPr>
          <p:nvPr/>
        </p:nvCxnSpPr>
        <p:spPr>
          <a:xfrm>
            <a:off x="5423359" y="2521801"/>
            <a:ext cx="531962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5423359" y="3376430"/>
            <a:ext cx="531962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5423359" y="4196916"/>
            <a:ext cx="531962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5437356" y="5214049"/>
            <a:ext cx="531962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连接符: 曲线 42"/>
          <p:cNvCxnSpPr>
            <a:stCxn id="10" idx="3"/>
            <a:endCxn id="21" idx="3"/>
          </p:cNvCxnSpPr>
          <p:nvPr/>
        </p:nvCxnSpPr>
        <p:spPr>
          <a:xfrm flipH="1">
            <a:off x="6190969" y="2521801"/>
            <a:ext cx="918972" cy="4022687"/>
          </a:xfrm>
          <a:prstGeom prst="curvedConnector3">
            <a:avLst>
              <a:gd name="adj1" fmla="val -96814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连接符: 曲线 45"/>
          <p:cNvCxnSpPr>
            <a:stCxn id="14" idx="3"/>
            <a:endCxn id="21" idx="3"/>
          </p:cNvCxnSpPr>
          <p:nvPr/>
        </p:nvCxnSpPr>
        <p:spPr>
          <a:xfrm flipH="1">
            <a:off x="6190969" y="3361922"/>
            <a:ext cx="918972" cy="3182566"/>
          </a:xfrm>
          <a:prstGeom prst="curvedConnector3">
            <a:avLst>
              <a:gd name="adj1" fmla="val -63198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曲线 51"/>
          <p:cNvCxnSpPr>
            <a:stCxn id="16" idx="3"/>
            <a:endCxn id="21" idx="3"/>
          </p:cNvCxnSpPr>
          <p:nvPr/>
        </p:nvCxnSpPr>
        <p:spPr>
          <a:xfrm flipH="1">
            <a:off x="6190969" y="4196917"/>
            <a:ext cx="918972" cy="2347571"/>
          </a:xfrm>
          <a:prstGeom prst="curvedConnector3">
            <a:avLst>
              <a:gd name="adj1" fmla="val -26893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12" name="矩形 13311"/>
          <p:cNvSpPr/>
          <p:nvPr/>
        </p:nvSpPr>
        <p:spPr>
          <a:xfrm>
            <a:off x="978355" y="6184556"/>
            <a:ext cx="1775650" cy="1067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313" name="矩形 13312"/>
          <p:cNvSpPr/>
          <p:nvPr/>
        </p:nvSpPr>
        <p:spPr>
          <a:xfrm>
            <a:off x="1073425" y="3544832"/>
            <a:ext cx="1588505" cy="11035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1" name="连接符: 曲线 40"/>
          <p:cNvCxnSpPr>
            <a:stCxn id="20" idx="3"/>
            <a:endCxn id="21" idx="3"/>
          </p:cNvCxnSpPr>
          <p:nvPr/>
        </p:nvCxnSpPr>
        <p:spPr>
          <a:xfrm flipH="1">
            <a:off x="6190969" y="5252110"/>
            <a:ext cx="918972" cy="1292378"/>
          </a:xfrm>
          <a:prstGeom prst="curvedConnector3">
            <a:avLst>
              <a:gd name="adj1" fmla="val -4707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>
            <a:stCxn id="10" idx="2"/>
            <a:endCxn id="14" idx="0"/>
          </p:cNvCxnSpPr>
          <p:nvPr/>
        </p:nvCxnSpPr>
        <p:spPr>
          <a:xfrm>
            <a:off x="6532631" y="2775026"/>
            <a:ext cx="0" cy="33367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6538835" y="3615146"/>
            <a:ext cx="0" cy="33367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endCxn id="20" idx="0"/>
          </p:cNvCxnSpPr>
          <p:nvPr/>
        </p:nvCxnSpPr>
        <p:spPr>
          <a:xfrm>
            <a:off x="6532631" y="4450142"/>
            <a:ext cx="0" cy="548742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469" y="1778695"/>
            <a:ext cx="5131394" cy="4701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487045" y="1023328"/>
            <a:ext cx="2951350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自增和自减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2" name="对角圆角矩形 1"/>
          <p:cNvSpPr/>
          <p:nvPr>
            <p:custDataLst>
              <p:tags r:id="rId2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3.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语义分析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81872" y="1578566"/>
            <a:ext cx="1747969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6182771" y="3031865"/>
            <a:ext cx="4880505" cy="141430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	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该部分的实现较为简单，获取变量名和符号类型即可生成对应的四元式</a:t>
            </a:r>
            <a:endParaRPr lang="en-US" altLang="zh-CN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22541" y="5542200"/>
            <a:ext cx="4777218" cy="62686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>
            <a:gsLst>
              <a:gs pos="1000">
                <a:srgbClr val="C1DFAE">
                  <a:alpha val="76000"/>
                </a:srgbClr>
              </a:gs>
              <a:gs pos="27000">
                <a:srgbClr val="7EAC8D">
                  <a:alpha val="82000"/>
                </a:srgbClr>
              </a:gs>
              <a:gs pos="76000">
                <a:srgbClr val="1A6840">
                  <a:alpha val="7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308938" y="2717780"/>
            <a:ext cx="64427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错误处理与简单界面</a:t>
            </a:r>
            <a:endParaRPr lang="zh-CN" altLang="en-US" sz="5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2021840" y="2267585"/>
            <a:ext cx="1786890" cy="1823720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chemeClr val="accent6">
                    <a:lumMod val="40000"/>
                    <a:lumOff val="6000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207895" y="2518410"/>
            <a:ext cx="13843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4</a:t>
            </a:r>
            <a:endParaRPr lang="en-US" altLang="zh-CN" sz="8000" b="1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87045" y="1023328"/>
            <a:ext cx="1730062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错误处理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33101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4.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错误处理与简单界面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81872" y="1578566"/>
            <a:ext cx="1347136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1255440" y="1783076"/>
            <a:ext cx="9682890" cy="141430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要处理的错误有两类，一类是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变量重复声明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，一类是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变量使用时未定义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，出现的场合主要是定义语句、自增自减、表达式和赋值语句，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本质是需要识别标识符的模块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。需要符号表来辅助查询，所以选择在这个模块完成符号表。</a:t>
            </a:r>
            <a:endParaRPr lang="en-US" altLang="zh-CN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选择的数据结构是</a:t>
            </a:r>
            <a:r>
              <a:rPr lang="en-US" altLang="zh-CN" sz="2400" dirty="0" err="1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JavaCC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自带的</a:t>
            </a:r>
            <a:r>
              <a:rPr lang="en-US" altLang="zh-CN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Token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类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，来记录信息，利用其中的行列信息来确定错误出现的位置。然后使用</a:t>
            </a:r>
            <a:r>
              <a:rPr lang="en-US" altLang="zh-CN" sz="2400" dirty="0" err="1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Arraylist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存储错误信息和变量。通过在符号表中变量名是否出现，来判断是否出错</a:t>
            </a:r>
            <a:endParaRPr lang="en-US" altLang="zh-CN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487045" y="173990"/>
            <a:ext cx="5262245" cy="683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4. 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测试与总结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563245" y="1587500"/>
            <a:ext cx="1464935" cy="95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487045" y="1065530"/>
            <a:ext cx="659257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错误处理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52958" y="5970443"/>
            <a:ext cx="5912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在声明语句中加入</a:t>
            </a:r>
            <a:r>
              <a:rPr lang="zh-CN" altLang="en-US" dirty="0">
                <a:solidFill>
                  <a:srgbClr val="FF0000"/>
                </a:solidFill>
              </a:rPr>
              <a:t>符号表的生成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变量重复定义</a:t>
            </a:r>
            <a:r>
              <a:rPr lang="zh-CN" altLang="en-US" dirty="0"/>
              <a:t>错误判断</a:t>
            </a:r>
            <a:endParaRPr lang="zh-CN" altLang="en-US" dirty="0"/>
          </a:p>
        </p:txBody>
      </p:sp>
      <p:pic>
        <p:nvPicPr>
          <p:cNvPr id="2050" name="图片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958" y="1752146"/>
            <a:ext cx="4064000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图片 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0668" y="1827720"/>
            <a:ext cx="4834290" cy="3641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1295712" y="3262463"/>
            <a:ext cx="3858748" cy="72081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408418" y="2583940"/>
            <a:ext cx="4295071" cy="3604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408419" y="3394462"/>
            <a:ext cx="1414086" cy="3604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>
            <a:stCxn id="10" idx="2"/>
            <a:endCxn id="11" idx="0"/>
          </p:cNvCxnSpPr>
          <p:nvPr/>
        </p:nvCxnSpPr>
        <p:spPr>
          <a:xfrm flipH="1">
            <a:off x="6009100" y="3754869"/>
            <a:ext cx="1106362" cy="22155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487045" y="173990"/>
            <a:ext cx="5262245" cy="683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4. 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测试与总结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563245" y="1587500"/>
            <a:ext cx="1464935" cy="95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487045" y="1065530"/>
            <a:ext cx="659257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错误处理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34167" y="6143127"/>
            <a:ext cx="6178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在自增自减、表达式与赋值语句中加入</a:t>
            </a:r>
            <a:r>
              <a:rPr lang="zh-CN" altLang="en-US" dirty="0">
                <a:solidFill>
                  <a:srgbClr val="FF0000"/>
                </a:solidFill>
              </a:rPr>
              <a:t>变量未定义</a:t>
            </a:r>
            <a:r>
              <a:rPr lang="zh-CN" altLang="en-US" dirty="0"/>
              <a:t>错误判断</a:t>
            </a:r>
            <a:endParaRPr lang="zh-CN" altLang="en-US" dirty="0"/>
          </a:p>
        </p:txBody>
      </p:sp>
      <p:pic>
        <p:nvPicPr>
          <p:cNvPr id="3074" name="图片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15" y="1931335"/>
            <a:ext cx="4015065" cy="39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图片 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1035" y="2012425"/>
            <a:ext cx="3606364" cy="283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图片 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4081" y="2107504"/>
            <a:ext cx="4522451" cy="2642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39559" y="4622639"/>
            <a:ext cx="3092574" cy="53808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093880" y="3244242"/>
            <a:ext cx="3173519" cy="7265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7676101" y="3539353"/>
            <a:ext cx="4290432" cy="69444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487045" y="173990"/>
            <a:ext cx="5262245" cy="683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4. 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测试与总结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563245" y="1587500"/>
            <a:ext cx="1464935" cy="95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487045" y="1065530"/>
            <a:ext cx="659257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简单界面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70110" y="2563168"/>
            <a:ext cx="494778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通过自带的图形界面辅助完成简单界面。选择的交互逻辑为，先将</a:t>
            </a:r>
            <a:r>
              <a:rPr kumimoji="1" lang="zh-CN" altLang="en-US" sz="22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输入写入文件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，再</a:t>
            </a:r>
            <a:r>
              <a:rPr kumimoji="1" lang="zh-CN" altLang="en-US" sz="22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从文件中读取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，调用</a:t>
            </a:r>
            <a:r>
              <a:rPr kumimoji="1" lang="en-US" altLang="zh-CN" sz="2200" dirty="0" err="1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MyNewGrammar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的</a:t>
            </a:r>
            <a:r>
              <a:rPr kumimoji="1" lang="zh-CN" altLang="en-US" sz="22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处理方法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后，将</a:t>
            </a:r>
            <a:r>
              <a:rPr kumimoji="1" lang="zh-CN" altLang="en-US" sz="22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输出写入文件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，最后从文件中</a:t>
            </a:r>
            <a:r>
              <a:rPr kumimoji="1" lang="zh-CN" altLang="en-US" sz="22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读取输出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，显示在界面中。若存在错误，则直接将错误显示到界面中。</a:t>
            </a:r>
            <a:endParaRPr kumimoji="1" lang="zh-CN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098" name="图片 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029" y="1695849"/>
            <a:ext cx="4812364" cy="4860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>
            <a:gsLst>
              <a:gs pos="1000">
                <a:srgbClr val="C1DFAE">
                  <a:alpha val="76000"/>
                </a:srgbClr>
              </a:gs>
              <a:gs pos="27000">
                <a:srgbClr val="7EAC8D">
                  <a:alpha val="82000"/>
                </a:srgbClr>
              </a:gs>
              <a:gs pos="76000">
                <a:srgbClr val="1A6840">
                  <a:alpha val="7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308938" y="2717780"/>
            <a:ext cx="64427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代码测试与结果展示</a:t>
            </a:r>
            <a:endParaRPr lang="zh-CN" altLang="en-US" sz="5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2021840" y="2267585"/>
            <a:ext cx="1786890" cy="1823720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chemeClr val="accent6">
                    <a:lumMod val="40000"/>
                    <a:lumOff val="6000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207895" y="2518410"/>
            <a:ext cx="13843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5</a:t>
            </a:r>
            <a:endParaRPr lang="en-US" altLang="zh-CN" sz="8000" b="1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487045" y="173990"/>
            <a:ext cx="5262245" cy="683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5.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代码测试与结果展示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563245" y="1587500"/>
            <a:ext cx="1464935" cy="95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487045" y="1065530"/>
            <a:ext cx="659257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文件读入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pic>
        <p:nvPicPr>
          <p:cNvPr id="5122" name="图片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" y="1813187"/>
            <a:ext cx="5196375" cy="3960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图片 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704278"/>
            <a:ext cx="5753100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1048428" y="5926114"/>
            <a:ext cx="3570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选择文件界面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7420000" y="5924193"/>
            <a:ext cx="3570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选择文件后正常读入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487045" y="1065530"/>
            <a:ext cx="659257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逻辑表达式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2" name="对角圆角矩形 1"/>
          <p:cNvSpPr/>
          <p:nvPr>
            <p:custDataLst>
              <p:tags r:id="rId2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487045" y="173990"/>
            <a:ext cx="5262245" cy="683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5.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代码测试与结果展示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563245" y="1597025"/>
            <a:ext cx="1785385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48427" y="6003235"/>
            <a:ext cx="3570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输入内容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7358974" y="6003235"/>
            <a:ext cx="3570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输出内容</a:t>
            </a:r>
            <a:endParaRPr lang="zh-CN" altLang="en-US" dirty="0"/>
          </a:p>
        </p:txBody>
      </p:sp>
      <p:pic>
        <p:nvPicPr>
          <p:cNvPr id="6146" name="图片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742" y="3110390"/>
            <a:ext cx="5022850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图片 1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725"/>
          <a:stretch>
            <a:fillRect/>
          </a:stretch>
        </p:blipFill>
        <p:spPr bwMode="auto">
          <a:xfrm>
            <a:off x="7546930" y="2344769"/>
            <a:ext cx="3519813" cy="3044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487045" y="1065530"/>
            <a:ext cx="659257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en-US" altLang="zh-CN" sz="2800" dirty="0" err="1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dowhile</a:t>
            </a:r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循环语句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2" name="对角圆角矩形 1"/>
          <p:cNvSpPr/>
          <p:nvPr>
            <p:custDataLst>
              <p:tags r:id="rId2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487045" y="173990"/>
            <a:ext cx="5262245" cy="683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5.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代码测试与结果展示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563245" y="1597025"/>
            <a:ext cx="2718574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48427" y="6003235"/>
            <a:ext cx="3570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输入内容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7358974" y="6003235"/>
            <a:ext cx="3570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输出内容</a:t>
            </a:r>
            <a:endParaRPr lang="zh-CN" altLang="en-US" dirty="0"/>
          </a:p>
        </p:txBody>
      </p:sp>
      <p:pic>
        <p:nvPicPr>
          <p:cNvPr id="7170" name="图片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217" y="2879670"/>
            <a:ext cx="5041900" cy="239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图片 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49"/>
          <a:stretch>
            <a:fillRect/>
          </a:stretch>
        </p:blipFill>
        <p:spPr bwMode="auto">
          <a:xfrm>
            <a:off x="6814792" y="2822520"/>
            <a:ext cx="5041900" cy="245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487045" y="1065530"/>
            <a:ext cx="659257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en-US" altLang="zh-CN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for</a:t>
            </a:r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循环语句与自增自减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2" name="对角圆角矩形 1"/>
          <p:cNvSpPr/>
          <p:nvPr>
            <p:custDataLst>
              <p:tags r:id="rId2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487045" y="173990"/>
            <a:ext cx="5262245" cy="683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5.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代码测试与结果展示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563245" y="1587500"/>
            <a:ext cx="3690703" cy="95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48427" y="6003235"/>
            <a:ext cx="3570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输入内容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7358974" y="6003235"/>
            <a:ext cx="3570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输出内容</a:t>
            </a:r>
            <a:endParaRPr lang="zh-CN" altLang="en-US" dirty="0"/>
          </a:p>
        </p:txBody>
      </p:sp>
      <p:pic>
        <p:nvPicPr>
          <p:cNvPr id="8194" name="图片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02" y="2733330"/>
            <a:ext cx="5041900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图片 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7598" y="2079280"/>
            <a:ext cx="5041900" cy="342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487045" y="1065530"/>
            <a:ext cx="659257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en-US" altLang="zh-CN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switch</a:t>
            </a:r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选择语句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2" name="对角圆角矩形 1"/>
          <p:cNvSpPr/>
          <p:nvPr>
            <p:custDataLst>
              <p:tags r:id="rId2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487045" y="173990"/>
            <a:ext cx="5262245" cy="683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5.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代码测试与结果展示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563245" y="1587500"/>
            <a:ext cx="2551016" cy="95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48427" y="6003235"/>
            <a:ext cx="3570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输入内容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7358974" y="6003235"/>
            <a:ext cx="3570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输出内容</a:t>
            </a:r>
            <a:endParaRPr lang="zh-CN" altLang="en-US" dirty="0"/>
          </a:p>
        </p:txBody>
      </p:sp>
      <p:pic>
        <p:nvPicPr>
          <p:cNvPr id="10" name="图片 9" descr="图形用户界面, 文本&#10;&#10;AI 生成的内容可能不正确。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704" y="2005267"/>
            <a:ext cx="4915586" cy="3724795"/>
          </a:xfrm>
          <a:prstGeom prst="rect">
            <a:avLst/>
          </a:prstGeom>
        </p:spPr>
      </p:pic>
      <p:pic>
        <p:nvPicPr>
          <p:cNvPr id="1026" name="图片 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505" y="1399884"/>
            <a:ext cx="474345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487045" y="1065530"/>
            <a:ext cx="659257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变量未定义错误与变量重复定义错误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2" name="对角圆角矩形 1"/>
          <p:cNvSpPr/>
          <p:nvPr>
            <p:custDataLst>
              <p:tags r:id="rId2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487045" y="173990"/>
            <a:ext cx="5608955" cy="683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5.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代码测试与结果展示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563245" y="1597025"/>
            <a:ext cx="5710555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48427" y="6003235"/>
            <a:ext cx="3570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输入内容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7358974" y="6003235"/>
            <a:ext cx="3570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输出内容</a:t>
            </a:r>
            <a:endParaRPr lang="zh-CN" altLang="en-US" dirty="0"/>
          </a:p>
        </p:txBody>
      </p:sp>
      <p:pic>
        <p:nvPicPr>
          <p:cNvPr id="10242" name="图片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227" y="2003094"/>
            <a:ext cx="4870450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图片 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848" y="2055490"/>
            <a:ext cx="5346526" cy="1370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图片 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02" y="3999989"/>
            <a:ext cx="5041900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图片 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848" y="4177789"/>
            <a:ext cx="50419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>
            <a:gsLst>
              <a:gs pos="1000">
                <a:srgbClr val="C1DFAE">
                  <a:alpha val="76000"/>
                </a:srgbClr>
              </a:gs>
              <a:gs pos="27000">
                <a:srgbClr val="7EAC8D">
                  <a:alpha val="82000"/>
                </a:srgbClr>
              </a:gs>
              <a:gs pos="76000">
                <a:srgbClr val="1A6840">
                  <a:alpha val="7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308938" y="2717780"/>
            <a:ext cx="64427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辅助说明</a:t>
            </a:r>
            <a:endParaRPr lang="zh-CN" altLang="en-US" sz="5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2021840" y="2267585"/>
            <a:ext cx="1786890" cy="1823720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chemeClr val="accent6">
                    <a:lumMod val="40000"/>
                    <a:lumOff val="6000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207895" y="2518410"/>
            <a:ext cx="13843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6</a:t>
            </a:r>
            <a:endParaRPr lang="en-US" altLang="zh-CN" sz="8000" b="1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487045" y="173990"/>
            <a:ext cx="5262245" cy="683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6.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辅助说明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563245" y="1587500"/>
            <a:ext cx="1464935" cy="95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487045" y="1065530"/>
            <a:ext cx="659257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完整类图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042" y="1189027"/>
            <a:ext cx="6835457" cy="5447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487045" y="173990"/>
            <a:ext cx="5262245" cy="683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6.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辅助说明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563245" y="1587500"/>
            <a:ext cx="2941955" cy="95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487045" y="1065530"/>
            <a:ext cx="659257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en-US" altLang="zh-CN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compiler</a:t>
            </a:r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包与</a:t>
            </a:r>
            <a:r>
              <a:rPr lang="en-US" altLang="zh-CN" sz="2800" dirty="0" err="1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ui</a:t>
            </a:r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包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99100" y="3317895"/>
            <a:ext cx="649605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Runner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类作为程序的入口，负责启动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GUI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界面。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r>
              <a:rPr kumimoji="1" lang="en-US" altLang="zh-CN" sz="2200" dirty="0" err="1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showframe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类负责了界面的显示和简单的逻辑处理。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26" r="55368" b="66048"/>
          <a:stretch>
            <a:fillRect/>
          </a:stretch>
        </p:blipFill>
        <p:spPr bwMode="auto">
          <a:xfrm>
            <a:off x="1342390" y="2313871"/>
            <a:ext cx="3759200" cy="3389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487045" y="173990"/>
            <a:ext cx="5262245" cy="683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6.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辅助说明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563245" y="1587500"/>
            <a:ext cx="1464935" cy="95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487045" y="1065530"/>
            <a:ext cx="659257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en-US" altLang="zh-CN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parser</a:t>
            </a:r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包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60521" y="2506260"/>
            <a:ext cx="581872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	</a:t>
            </a:r>
            <a:r>
              <a:rPr kumimoji="1" lang="en-US" altLang="zh-CN" sz="2200" dirty="0" err="1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MyNewGrammar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类作为</a:t>
            </a:r>
            <a:r>
              <a:rPr kumimoji="1" lang="zh-CN" altLang="en-US" sz="22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解析器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，有</a:t>
            </a:r>
            <a:r>
              <a:rPr kumimoji="1" lang="en-US" altLang="zh-CN" sz="2200" dirty="0" err="1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errorList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、</a:t>
            </a:r>
            <a:r>
              <a:rPr kumimoji="1" lang="en-US" altLang="zh-CN" sz="2200" dirty="0" err="1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tokenList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等成员变量进行数据的存储，主要功能就是进行</a:t>
            </a:r>
            <a:r>
              <a:rPr kumimoji="1" lang="zh-CN" altLang="en-US" sz="22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词法分析、语法分析和语义分析，并生成四元式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。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	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Token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类是作为</a:t>
            </a:r>
            <a:r>
              <a:rPr kumimoji="1" lang="zh-CN" altLang="en-US" sz="22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基本词法单位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，辅助识别与信息的存储，可以存储变量的名称、类型、出现位置等信息。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562" r="61431"/>
          <a:stretch>
            <a:fillRect/>
          </a:stretch>
        </p:blipFill>
        <p:spPr bwMode="auto">
          <a:xfrm>
            <a:off x="1416050" y="1937752"/>
            <a:ext cx="3456575" cy="4602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487045" y="1065530"/>
            <a:ext cx="659257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en-US" altLang="zh-CN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util</a:t>
            </a:r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包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2" name="对角圆角矩形 1"/>
          <p:cNvSpPr/>
          <p:nvPr>
            <p:custDataLst>
              <p:tags r:id="rId2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487045" y="173990"/>
            <a:ext cx="5262245" cy="683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6.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辅助说明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563245" y="1587500"/>
            <a:ext cx="954405" cy="95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7002145" y="1597025"/>
            <a:ext cx="4710025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    </a:t>
            </a:r>
            <a:r>
              <a:rPr kumimoji="1" lang="en-US" altLang="zh-CN" sz="2200" dirty="0" err="1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QTInfo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负责存储四元式信息，用于</a:t>
            </a:r>
            <a:r>
              <a:rPr kumimoji="1" lang="zh-CN" altLang="en-US" sz="22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表示一条完整的四元式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，同时</a:t>
            </a:r>
            <a:r>
              <a:rPr kumimoji="1" lang="en-US" altLang="zh-CN" sz="2200" dirty="0" err="1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QTTable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类则是作为四元式表，对</a:t>
            </a:r>
            <a:r>
              <a:rPr kumimoji="1" lang="en-US" altLang="zh-CN" sz="2200" dirty="0" err="1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QTInfo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类型的数据进行</a:t>
            </a:r>
            <a:r>
              <a:rPr kumimoji="1" lang="zh-CN" altLang="en-US" sz="22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管理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。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     </a:t>
            </a:r>
            <a:r>
              <a:rPr kumimoji="1" lang="en-US" altLang="zh-CN" sz="2200" dirty="0" err="1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VariableNameGenerator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类作为临时变量名生成器，可以在生产四元式的过程中，</a:t>
            </a:r>
            <a:r>
              <a:rPr kumimoji="1" lang="zh-CN" altLang="en-US" sz="22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提供不重复的临时变量名。</a:t>
            </a:r>
            <a:endParaRPr kumimoji="1" lang="en-US" altLang="zh-CN" sz="2200" dirty="0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kumimoji="1" lang="zh-CN" altLang="en-US" sz="2200" dirty="0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    </a:t>
            </a:r>
            <a:r>
              <a:rPr kumimoji="1" lang="en-US" altLang="zh-CN" sz="2200" dirty="0" err="1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ConditionValue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类则是用于辅助完成</a:t>
            </a:r>
            <a:r>
              <a:rPr kumimoji="1" lang="zh-CN" altLang="en-US" sz="22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拉链和回填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两个操作，能够分别存储真链和假链所涉及到的四元式，并且可以进行统一的回填操作。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7" t="53711"/>
          <a:stretch>
            <a:fillRect/>
          </a:stretch>
        </p:blipFill>
        <p:spPr bwMode="auto">
          <a:xfrm>
            <a:off x="388976" y="2213727"/>
            <a:ext cx="5948324" cy="3578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0"/>
            <a:ext cx="12211034" cy="6858000"/>
          </a:xfrm>
          <a:prstGeom prst="rect">
            <a:avLst/>
          </a:prstGeom>
          <a:gradFill>
            <a:gsLst>
              <a:gs pos="35000">
                <a:srgbClr val="479F72">
                  <a:alpha val="90000"/>
                </a:srgbClr>
              </a:gs>
              <a:gs pos="100000">
                <a:srgbClr val="35823C">
                  <a:alpha val="0"/>
                </a:srgbClr>
              </a:gs>
              <a:gs pos="0">
                <a:srgbClr val="479F72"/>
              </a:gs>
            </a:gsLst>
            <a:lin ang="0" scaled="1"/>
          </a:gradFill>
          <a:ln>
            <a:noFill/>
          </a:ln>
        </p:spPr>
        <p:style>
          <a:lnRef idx="2">
            <a:srgbClr val="86C131">
              <a:shade val="50000"/>
            </a:srgbClr>
          </a:lnRef>
          <a:fillRef idx="1">
            <a:srgbClr val="86C131"/>
          </a:fillRef>
          <a:effectRef idx="0">
            <a:srgbClr val="86C131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4" name="矩形 63"/>
          <p:cNvSpPr/>
          <p:nvPr>
            <p:custDataLst>
              <p:tags r:id="rId1"/>
            </p:custDataLst>
          </p:nvPr>
        </p:nvSpPr>
        <p:spPr>
          <a:xfrm>
            <a:off x="0" y="0"/>
            <a:ext cx="12192635" cy="6857365"/>
          </a:xfrm>
          <a:prstGeom prst="rect">
            <a:avLst/>
          </a:prstGeom>
          <a:solidFill>
            <a:srgbClr val="1A6A4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2150110" y="1676400"/>
            <a:ext cx="7910830" cy="3349625"/>
          </a:xfrm>
          <a:prstGeom prst="roundRect">
            <a:avLst/>
          </a:prstGeom>
          <a:solidFill>
            <a:srgbClr val="FFFDF5"/>
          </a:solidFill>
          <a:ln>
            <a:noFill/>
          </a:ln>
          <a:effectLst>
            <a:outerShdw blurRad="127000" dist="38100" dir="2700000" sx="101000" sy="101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2761615" y="2612390"/>
            <a:ext cx="668782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spc="200">
                <a:solidFill>
                  <a:srgbClr val="2E461C"/>
                </a:solidFill>
                <a:uFillTx/>
                <a:latin typeface="华文中宋" panose="02010600040101010101" charset="-122"/>
                <a:ea typeface="华文中宋" panose="02010600040101010101" charset="-122"/>
              </a:rPr>
              <a:t>请老师批评指正！</a:t>
            </a:r>
            <a:endParaRPr lang="zh-CN" altLang="en-US" sz="6600" spc="200">
              <a:solidFill>
                <a:srgbClr val="2E461C"/>
              </a:solidFill>
              <a:uFillTx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DIAGRAM_VIRTUALLY_FRAME" val="{&quot;height&quot;:399.7,&quot;left&quot;:303.15,&quot;top&quot;:75.6,&quot;width&quot;:520.1}"/>
</p:tagLst>
</file>

<file path=ppt/tags/tag7.xml><?xml version="1.0" encoding="utf-8"?>
<p:tagLst xmlns:p="http://schemas.openxmlformats.org/presentationml/2006/main">
  <p:tag name="KSO_WM_DIAGRAM_VIRTUALLY_FRAME" val="{&quot;height&quot;:399.7,&quot;left&quot;:303.15,&quot;top&quot;:75.6,&quot;width&quot;:520.1}"/>
</p:tagLst>
</file>

<file path=ppt/tags/tag8.xml><?xml version="1.0" encoding="utf-8"?>
<p:tagLst xmlns:p="http://schemas.openxmlformats.org/presentationml/2006/main">
  <p:tag name="KSO_WM_DIAGRAM_VIRTUALLY_FRAME" val="{&quot;height&quot;:399.7,&quot;left&quot;:303.15,&quot;top&quot;:75.6,&quot;width&quot;:520.1}"/>
</p:tagLst>
</file>

<file path=ppt/tags/tag9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10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11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12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13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14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DIAGRAM_VIRTUALLY_FRAME" val="{&quot;height&quot;:399.7,&quot;left&quot;:303.15,&quot;top&quot;:75.6,&quot;width&quot;:520.1}"/>
</p:tagLst>
</file>

<file path=ppt/tags/tag17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18.xml><?xml version="1.0" encoding="utf-8"?>
<p:tagLst xmlns:p="http://schemas.openxmlformats.org/presentationml/2006/main">
  <p:tag name="KSO_WM_DIAGRAM_VIRTUALLY_FRAME" val="{&quot;height&quot;:399.7,&quot;left&quot;:303.15,&quot;top&quot;:75.6,&quot;width&quot;:520.1}"/>
</p:tagLst>
</file>

<file path=ppt/tags/tag19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20.xml><?xml version="1.0" encoding="utf-8"?>
<p:tagLst xmlns:p="http://schemas.openxmlformats.org/presentationml/2006/main">
  <p:tag name="KSO_WM_DIAGRAM_VIRTUALLY_FRAME" val="{&quot;height&quot;:399.7,&quot;left&quot;:303.15,&quot;top&quot;:75.6,&quot;width&quot;:520.1}"/>
</p:tagLst>
</file>

<file path=ppt/tags/tag21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22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23.xml><?xml version="1.0" encoding="utf-8"?>
<p:tagLst xmlns:p="http://schemas.openxmlformats.org/presentationml/2006/main">
  <p:tag name="KSO_WM_DIAGRAM_VIRTUALLY_FRAME" val="{&quot;height&quot;:399.7,&quot;left&quot;:303.15,&quot;top&quot;:75.6,&quot;width&quot;:520.1}"/>
</p:tagLst>
</file>

<file path=ppt/tags/tag24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PP_MARK_KEY" val="5ac09484-6d2c-4b80-be6e-a0ee2c1e6d77"/>
  <p:tag name="COMMONDATA" val="eyJoZGlkIjoiODQ5MzlmNzBjOTM2YzJmM2YwMTQyYmQzZjY3MzY0NDA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4195</Words>
  <Application>WPS 演示</Application>
  <PresentationFormat>宽屏</PresentationFormat>
  <Paragraphs>444</Paragraphs>
  <Slides>43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2" baseType="lpstr">
      <vt:lpstr>Arial</vt:lpstr>
      <vt:lpstr>宋体</vt:lpstr>
      <vt:lpstr>Wingdings</vt:lpstr>
      <vt:lpstr>微软雅黑</vt:lpstr>
      <vt:lpstr>黑体</vt:lpstr>
      <vt:lpstr>华文中宋</vt:lpstr>
      <vt:lpstr>Calibri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7490</dc:creator>
  <cp:lastModifiedBy>郑瑾</cp:lastModifiedBy>
  <cp:revision>76</cp:revision>
  <dcterms:created xsi:type="dcterms:W3CDTF">2023-05-15T12:02:00Z</dcterms:created>
  <dcterms:modified xsi:type="dcterms:W3CDTF">2026-04-20T13:57:14Z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678E0F76A9604F3D83F0C4F9FF64918D_12</vt:lpwstr>
  </property>
  <property fmtid="{D5CDD505-2E9C-101B-9397-08002B2CF9AE}" pid="3" name="KSOProductBuildVer">
    <vt:lpwstr>2052-12.1.0.24034</vt:lpwstr>
  </property>
</Properties>
</file>